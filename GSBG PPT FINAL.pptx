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0" r:id="rId1"/>
  </p:sldMasterIdLst>
  <p:notesMasterIdLst>
    <p:notesMasterId r:id="rId29"/>
  </p:notesMasterIdLst>
  <p:sldIdLst>
    <p:sldId id="275" r:id="rId2"/>
    <p:sldId id="276" r:id="rId3"/>
    <p:sldId id="277" r:id="rId4"/>
    <p:sldId id="263" r:id="rId5"/>
    <p:sldId id="279" r:id="rId6"/>
    <p:sldId id="290" r:id="rId7"/>
    <p:sldId id="297" r:id="rId8"/>
    <p:sldId id="298" r:id="rId9"/>
    <p:sldId id="289" r:id="rId10"/>
    <p:sldId id="268" r:id="rId11"/>
    <p:sldId id="286" r:id="rId12"/>
    <p:sldId id="303" r:id="rId13"/>
    <p:sldId id="292" r:id="rId14"/>
    <p:sldId id="293" r:id="rId15"/>
    <p:sldId id="294" r:id="rId16"/>
    <p:sldId id="308" r:id="rId17"/>
    <p:sldId id="295" r:id="rId18"/>
    <p:sldId id="296" r:id="rId19"/>
    <p:sldId id="287" r:id="rId20"/>
    <p:sldId id="304" r:id="rId21"/>
    <p:sldId id="306" r:id="rId22"/>
    <p:sldId id="307" r:id="rId23"/>
    <p:sldId id="305" r:id="rId24"/>
    <p:sldId id="299" r:id="rId25"/>
    <p:sldId id="300" r:id="rId26"/>
    <p:sldId id="301" r:id="rId27"/>
    <p:sldId id="26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85" d="100"/>
          <a:sy n="85" d="100"/>
        </p:scale>
        <p:origin x="36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8F35BD-4D42-450A-B796-1C427B71D08E}"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BCD106-FD20-4E02-968D-9D844C38D228}" type="slidenum">
              <a:rPr lang="en-US" smtClean="0"/>
              <a:t>‹#›</a:t>
            </a:fld>
            <a:endParaRPr lang="en-US"/>
          </a:p>
        </p:txBody>
      </p:sp>
    </p:spTree>
    <p:extLst>
      <p:ext uri="{BB962C8B-B14F-4D97-AF65-F5344CB8AC3E}">
        <p14:creationId xmlns:p14="http://schemas.microsoft.com/office/powerpoint/2010/main" val="1232963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F6AED699-9F0B-4454-8F01-7D41B9862C28}" type="slidenum">
              <a:rPr lang="en-IN" altLang="en-US" sz="1400"/>
              <a:pPr>
                <a:spcBef>
                  <a:spcPct val="0"/>
                </a:spcBef>
              </a:pPr>
              <a:t>4</a:t>
            </a:fld>
            <a:endParaRPr lang="en-IN" altLang="en-US" sz="1400"/>
          </a:p>
        </p:txBody>
      </p:sp>
      <p:sp>
        <p:nvSpPr>
          <p:cNvPr id="11267" name="Rectangle 1"/>
          <p:cNvSpPr>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875848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0629C9-6831-41FE-9ADE-34E41F69252F}"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2262441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629C9-6831-41FE-9ADE-34E41F69252F}"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569662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0629C9-6831-41FE-9ADE-34E41F69252F}"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206626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0629C9-6831-41FE-9ADE-34E41F69252F}"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1883557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0629C9-6831-41FE-9ADE-34E41F69252F}"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419548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0629C9-6831-41FE-9ADE-34E41F69252F}" type="datetimeFigureOut">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458790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0629C9-6831-41FE-9ADE-34E41F69252F}" type="datetimeFigureOut">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724918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0629C9-6831-41FE-9ADE-34E41F69252F}"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2189103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F65FB3-248C-4376-B854-77C3A4638702}" type="slidenum">
              <a:rPr lang="en-US" smtClean="0"/>
              <a:t>‹#›</a:t>
            </a:fld>
            <a:endParaRPr lang="en-US"/>
          </a:p>
        </p:txBody>
      </p:sp>
      <p:sp>
        <p:nvSpPr>
          <p:cNvPr id="5" name="Date Placeholder 4"/>
          <p:cNvSpPr>
            <a:spLocks noGrp="1"/>
          </p:cNvSpPr>
          <p:nvPr>
            <p:ph type="dt" sz="half" idx="10"/>
          </p:nvPr>
        </p:nvSpPr>
        <p:spPr/>
        <p:txBody>
          <a:bodyPr/>
          <a:lstStyle/>
          <a:p>
            <a:fld id="{710629C9-6831-41FE-9ADE-34E41F69252F}" type="datetimeFigureOut">
              <a:rPr lang="en-US" smtClean="0"/>
              <a:t>4/24/2026</a:t>
            </a:fld>
            <a:endParaRPr lang="en-US"/>
          </a:p>
        </p:txBody>
      </p:sp>
    </p:spTree>
    <p:extLst>
      <p:ext uri="{BB962C8B-B14F-4D97-AF65-F5344CB8AC3E}">
        <p14:creationId xmlns:p14="http://schemas.microsoft.com/office/powerpoint/2010/main" val="4105100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0629C9-6831-41FE-9ADE-34E41F69252F}"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506811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0629C9-6831-41FE-9ADE-34E41F69252F}"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65FB3-248C-4376-B854-77C3A463870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49427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0629C9-6831-41FE-9ADE-34E41F69252F}"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3990831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0629C9-6831-41FE-9ADE-34E41F69252F}"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65FB3-248C-4376-B854-77C3A463870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2663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0629C9-6831-41FE-9ADE-34E41F69252F}"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3229119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629C9-6831-41FE-9ADE-34E41F69252F}"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36582572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629C9-6831-41FE-9ADE-34E41F69252F}"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65FB3-248C-4376-B854-77C3A4638702}" type="slidenum">
              <a:rPr lang="en-US" smtClean="0"/>
              <a:t>‹#›</a:t>
            </a:fld>
            <a:endParaRPr lang="en-US"/>
          </a:p>
        </p:txBody>
      </p:sp>
    </p:spTree>
    <p:extLst>
      <p:ext uri="{BB962C8B-B14F-4D97-AF65-F5344CB8AC3E}">
        <p14:creationId xmlns:p14="http://schemas.microsoft.com/office/powerpoint/2010/main" val="3495695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10629C9-6831-41FE-9ADE-34E41F69252F}" type="datetimeFigureOut">
              <a:rPr lang="en-US" smtClean="0"/>
              <a:t>4/24/2026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CF65FB3-248C-4376-B854-77C3A4638702}" type="slidenum">
              <a:rPr lang="en-US" smtClean="0"/>
              <a:t>‹#›</a:t>
            </a:fld>
            <a:endParaRPr lang="en-US"/>
          </a:p>
        </p:txBody>
      </p:sp>
    </p:spTree>
    <p:extLst>
      <p:ext uri="{BB962C8B-B14F-4D97-AF65-F5344CB8AC3E}">
        <p14:creationId xmlns:p14="http://schemas.microsoft.com/office/powerpoint/2010/main" val="2827935757"/>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589" y="2427195"/>
            <a:ext cx="10614212" cy="2637864"/>
          </a:xfrm>
        </p:spPr>
        <p:txBody>
          <a:bodyPr>
            <a:normAutofit/>
          </a:bodyPr>
          <a:lstStyle/>
          <a:p>
            <a:pPr algn="ctr"/>
            <a:r>
              <a:rPr lang="en-US" sz="6000" b="1" i="1" dirty="0">
                <a:solidFill>
                  <a:schemeClr val="tx1"/>
                </a:solidFill>
                <a:latin typeface="Times New Roman" panose="02020603050405020304" pitchFamily="18" charset="0"/>
                <a:cs typeface="Times New Roman" panose="02020603050405020304" pitchFamily="18" charset="0"/>
              </a:rPr>
              <a:t>AI Powered Lead Generation &amp; Sales Automation Platform</a:t>
            </a:r>
          </a:p>
        </p:txBody>
      </p:sp>
    </p:spTree>
    <p:extLst>
      <p:ext uri="{BB962C8B-B14F-4D97-AF65-F5344CB8AC3E}">
        <p14:creationId xmlns:p14="http://schemas.microsoft.com/office/powerpoint/2010/main" val="159509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078" y="1787470"/>
            <a:ext cx="9155182" cy="1550989"/>
          </a:xfrm>
        </p:spPr>
        <p:txBody>
          <a:bodyPr>
            <a:normAutofit fontScale="90000"/>
          </a:bodyPr>
          <a:lstStyle/>
          <a:p>
            <a:pPr algn="ctr"/>
            <a:r>
              <a:rPr lang="en-US" b="1" dirty="0">
                <a:solidFill>
                  <a:schemeClr val="tx1"/>
                </a:solidFill>
                <a:latin typeface="Times New Roman" panose="02020603050405020304" pitchFamily="18" charset="0"/>
              </a:rPr>
              <a:t>Department of Computer Science &amp; Engineering (Artificial Intelligence &amp; Machine Learning)</a:t>
            </a:r>
            <a:br>
              <a:rPr lang="en-US" b="1" dirty="0">
                <a:solidFill>
                  <a:schemeClr val="tx1"/>
                </a:solidFill>
                <a:latin typeface="Times New Roman" panose="02020603050405020304" pitchFamily="18" charset="0"/>
              </a:rPr>
            </a:br>
            <a:endParaRPr lang="en-US" dirty="0">
              <a:solidFill>
                <a:schemeClr val="tx1"/>
              </a:solidFill>
            </a:endParaRPr>
          </a:p>
        </p:txBody>
      </p:sp>
      <p:sp>
        <p:nvSpPr>
          <p:cNvPr id="3" name="Content Placeholder 2"/>
          <p:cNvSpPr>
            <a:spLocks noGrp="1"/>
          </p:cNvSpPr>
          <p:nvPr>
            <p:ph idx="1"/>
          </p:nvPr>
        </p:nvSpPr>
        <p:spPr>
          <a:xfrm>
            <a:off x="677335" y="3988292"/>
            <a:ext cx="8596668" cy="2275274"/>
          </a:xfrm>
        </p:spPr>
        <p:txBody>
          <a:bodyPr>
            <a:normAutofit/>
          </a:bodyPr>
          <a:lstStyle/>
          <a:p>
            <a:pPr indent="0" algn="ctr">
              <a:lnSpc>
                <a:spcPct val="115000"/>
              </a:lnSpc>
              <a:buFont typeface="Arial" pitchFamily="34" charset="0"/>
              <a:buNone/>
            </a:pPr>
            <a:r>
              <a:rPr lang="en-US" sz="2800" b="1" dirty="0">
                <a:solidFill>
                  <a:schemeClr val="tx1"/>
                </a:solidFill>
                <a:latin typeface="Times New Roman"/>
                <a:ea typeface="Times New Roman"/>
                <a:cs typeface="Times New Roman"/>
                <a:sym typeface="Times New Roman"/>
              </a:rPr>
              <a:t>A.P. Shah Institute of Technology, G.B.Road, Kasarwadavli, Thane(W), Mumbai-400615, UNIVERSITY OF MUMBAI</a:t>
            </a:r>
          </a:p>
          <a:p>
            <a:pPr indent="0" algn="ctr">
              <a:lnSpc>
                <a:spcPct val="115000"/>
              </a:lnSpc>
              <a:buFont typeface="Arial" pitchFamily="34" charset="0"/>
              <a:buNone/>
            </a:pPr>
            <a:r>
              <a:rPr lang="en-US" sz="2800" b="1" dirty="0">
                <a:solidFill>
                  <a:schemeClr val="tx1"/>
                </a:solidFill>
                <a:latin typeface="Times New Roman"/>
                <a:ea typeface="Times New Roman"/>
                <a:cs typeface="Times New Roman"/>
                <a:sym typeface="Times New Roman"/>
              </a:rPr>
              <a:t>Academic Year 2025-2026 </a:t>
            </a:r>
          </a:p>
        </p:txBody>
      </p:sp>
      <p:pic>
        <p:nvPicPr>
          <p:cNvPr id="4" name="Google Shape;196;p29">
            <a:extLst>
              <a:ext uri="{FF2B5EF4-FFF2-40B4-BE49-F238E27FC236}">
                <a16:creationId xmlns:a16="http://schemas.microsoft.com/office/drawing/2014/main" id="{3C3D3AEB-B638-7F84-1DB7-173103E46D28}"/>
              </a:ext>
            </a:extLst>
          </p:cNvPr>
          <p:cNvPicPr preferRelativeResize="0"/>
          <p:nvPr/>
        </p:nvPicPr>
        <p:blipFill rotWithShape="1">
          <a:blip r:embed="rId2">
            <a:alphaModFix/>
          </a:blip>
          <a:srcRect/>
          <a:stretch/>
        </p:blipFill>
        <p:spPr>
          <a:xfrm>
            <a:off x="4149908" y="0"/>
            <a:ext cx="2023479" cy="1787470"/>
          </a:xfrm>
          <a:prstGeom prst="rect">
            <a:avLst/>
          </a:prstGeom>
          <a:noFill/>
          <a:ln>
            <a:noFill/>
          </a:ln>
        </p:spPr>
      </p:pic>
    </p:spTree>
    <p:extLst>
      <p:ext uri="{BB962C8B-B14F-4D97-AF65-F5344CB8AC3E}">
        <p14:creationId xmlns:p14="http://schemas.microsoft.com/office/powerpoint/2010/main" val="287340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318" y="1673817"/>
            <a:ext cx="8596668" cy="4734732"/>
          </a:xfrm>
        </p:spPr>
        <p:txBody>
          <a:bodyPr>
            <a:normAutofit/>
          </a:bodyPr>
          <a:lstStyle/>
          <a:p>
            <a:pPr algn="ctr" eaLnBrk="1" hangingPunct="1">
              <a:lnSpc>
                <a:spcPct val="93000"/>
              </a:lnSpc>
              <a:spcBef>
                <a:spcPts val="13"/>
              </a:spcBef>
              <a:spcAft>
                <a:spcPts val="13"/>
              </a:spcAft>
              <a:buSzPct val="100000"/>
              <a:defRPr/>
            </a:pPr>
            <a:r>
              <a:rPr lang="en-IN" sz="3100" b="1" dirty="0">
                <a:solidFill>
                  <a:schemeClr val="dk1"/>
                </a:solidFill>
                <a:latin typeface="Times New Roman"/>
                <a:ea typeface="Times New Roman"/>
                <a:cs typeface="Times New Roman"/>
                <a:sym typeface="Times New Roman"/>
              </a:rPr>
              <a:t>Computer Science &amp; Engineering Artificial Intelligence and Machine Learning</a:t>
            </a:r>
            <a:br>
              <a:rPr lang="en-IN" sz="3100" b="1" dirty="0">
                <a:solidFill>
                  <a:schemeClr val="dk1"/>
                </a:solidFill>
                <a:latin typeface="Times New Roman"/>
                <a:ea typeface="Times New Roman"/>
                <a:cs typeface="Times New Roman"/>
                <a:sym typeface="Times New Roman"/>
              </a:rPr>
            </a:br>
            <a:r>
              <a:rPr lang="en-IN" sz="3100" b="1" dirty="0">
                <a:solidFill>
                  <a:schemeClr val="dk1"/>
                </a:solidFill>
                <a:latin typeface="Times New Roman"/>
                <a:ea typeface="Times New Roman"/>
                <a:cs typeface="Times New Roman"/>
                <a:sym typeface="Times New Roman"/>
              </a:rPr>
              <a:t>By</a:t>
            </a:r>
            <a:br>
              <a:rPr lang="en-IN" sz="3100" b="1" dirty="0">
                <a:solidFill>
                  <a:schemeClr val="dk1"/>
                </a:solidFill>
                <a:latin typeface="Times New Roman"/>
                <a:ea typeface="Times New Roman"/>
                <a:cs typeface="Times New Roman"/>
                <a:sym typeface="Times New Roman"/>
              </a:rPr>
            </a:br>
            <a:r>
              <a:rPr lang="en-IN" altLang="en-US" sz="3100" b="1" dirty="0" err="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Durvesh</a:t>
            </a:r>
            <a:r>
              <a:rPr lang="en-IN" altLang="en-US" sz="31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Kanade (22106013)</a:t>
            </a:r>
            <a:br>
              <a:rPr lang="en-IN" altLang="en-US" sz="31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br>
            <a:r>
              <a:rPr lang="en-IN" altLang="en-US" sz="31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Aaryaman Kattali (22106077)</a:t>
            </a:r>
            <a:br>
              <a:rPr lang="en-IN" altLang="en-US" sz="31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br>
            <a:r>
              <a:rPr lang="en-IN" altLang="en-US" sz="31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Vaishnavi </a:t>
            </a:r>
            <a:r>
              <a:rPr lang="en-IN" altLang="en-US" sz="3100" b="1" dirty="0" err="1">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Dumbre</a:t>
            </a:r>
            <a:r>
              <a:rPr lang="en-IN" altLang="en-US" sz="31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(22106115)  </a:t>
            </a:r>
            <a:br>
              <a:rPr lang="en-IN" altLang="en-US" sz="31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br>
            <a:r>
              <a:rPr lang="en-IN" altLang="en-US" sz="31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Ritik Pandey (22106054)  </a:t>
            </a:r>
            <a:br>
              <a:rPr lang="en-IN" altLang="en-US" sz="32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br>
            <a:br>
              <a:rPr lang="en-IN" sz="3100" dirty="0">
                <a:solidFill>
                  <a:schemeClr val="dk1"/>
                </a:solidFill>
                <a:latin typeface="Times New Roman"/>
                <a:ea typeface="Times New Roman"/>
                <a:cs typeface="Times New Roman"/>
                <a:sym typeface="Times New Roman"/>
              </a:rPr>
            </a:br>
            <a:r>
              <a:rPr lang="en-IN" sz="3100" b="1" dirty="0">
                <a:solidFill>
                  <a:schemeClr val="dk1"/>
                </a:solidFill>
                <a:latin typeface="Times New Roman"/>
                <a:ea typeface="Times New Roman"/>
                <a:cs typeface="Times New Roman"/>
                <a:sym typeface="Times New Roman"/>
              </a:rPr>
              <a:t>Under the Guidance of</a:t>
            </a:r>
            <a:br>
              <a:rPr lang="en-IN" sz="3100" b="1" dirty="0">
                <a:solidFill>
                  <a:schemeClr val="dk1"/>
                </a:solidFill>
                <a:latin typeface="Times New Roman"/>
                <a:ea typeface="Times New Roman"/>
                <a:cs typeface="Times New Roman"/>
                <a:sym typeface="Times New Roman"/>
              </a:rPr>
            </a:br>
            <a:r>
              <a:rPr lang="en-IN" sz="3100" b="1" dirty="0">
                <a:solidFill>
                  <a:schemeClr val="dk1"/>
                </a:solidFill>
                <a:latin typeface="Times New Roman"/>
                <a:ea typeface="Times New Roman"/>
                <a:cs typeface="Times New Roman"/>
                <a:sym typeface="Times New Roman"/>
              </a:rPr>
              <a:t>Prof. </a:t>
            </a:r>
            <a:r>
              <a:rPr lang="en-IN" altLang="en-US" sz="3200" b="1" dirty="0">
                <a:solidFill>
                  <a:schemeClr val="tx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Viki Patil</a:t>
            </a:r>
            <a:endParaRPr lang="en-IN" b="1" dirty="0">
              <a:solidFill>
                <a:schemeClr val="tx1"/>
              </a:solidFill>
              <a:latin typeface="Times New Roman"/>
              <a:ea typeface="Times New Roman"/>
              <a:cs typeface="Times New Roman"/>
              <a:sym typeface="Times New Roman"/>
            </a:endParaRPr>
          </a:p>
        </p:txBody>
      </p:sp>
      <p:pic>
        <p:nvPicPr>
          <p:cNvPr id="3" name="Google Shape;196;p29">
            <a:extLst>
              <a:ext uri="{FF2B5EF4-FFF2-40B4-BE49-F238E27FC236}">
                <a16:creationId xmlns:a16="http://schemas.microsoft.com/office/drawing/2014/main" id="{30E88912-038A-B25F-9B96-91ACC47BA01A}"/>
              </a:ext>
            </a:extLst>
          </p:cNvPr>
          <p:cNvPicPr preferRelativeResize="0"/>
          <p:nvPr/>
        </p:nvPicPr>
        <p:blipFill rotWithShape="1">
          <a:blip r:embed="rId2">
            <a:alphaModFix/>
          </a:blip>
          <a:srcRect/>
          <a:stretch/>
        </p:blipFill>
        <p:spPr>
          <a:xfrm>
            <a:off x="4334426" y="0"/>
            <a:ext cx="1592451" cy="1487837"/>
          </a:xfrm>
          <a:prstGeom prst="rect">
            <a:avLst/>
          </a:prstGeom>
          <a:noFill/>
          <a:ln>
            <a:noFill/>
          </a:ln>
        </p:spPr>
      </p:pic>
    </p:spTree>
    <p:extLst>
      <p:ext uri="{BB962C8B-B14F-4D97-AF65-F5344CB8AC3E}">
        <p14:creationId xmlns:p14="http://schemas.microsoft.com/office/powerpoint/2010/main" val="151709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ChangeArrowheads="1"/>
          </p:cNvSpPr>
          <p:nvPr/>
        </p:nvSpPr>
        <p:spPr bwMode="auto">
          <a:xfrm>
            <a:off x="1981488" y="162737"/>
            <a:ext cx="8229024" cy="959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874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4400" b="1" dirty="0">
                <a:solidFill>
                  <a:srgbClr val="000000"/>
                </a:solidFill>
                <a:latin typeface="Times New Roman" panose="02020603050405020304" pitchFamily="18" charset="0"/>
                <a:ea typeface="DejaVu Sans" charset="0"/>
                <a:cs typeface="Times New Roman" panose="02020603050405020304" pitchFamily="18" charset="0"/>
              </a:rPr>
              <a:t>Outline</a:t>
            </a:r>
          </a:p>
        </p:txBody>
      </p:sp>
      <p:sp>
        <p:nvSpPr>
          <p:cNvPr id="10243" name="Rectangle 2"/>
          <p:cNvSpPr>
            <a:spLocks noChangeArrowheads="1"/>
          </p:cNvSpPr>
          <p:nvPr/>
        </p:nvSpPr>
        <p:spPr bwMode="auto">
          <a:xfrm>
            <a:off x="1981489" y="1121879"/>
            <a:ext cx="8458008" cy="50606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9269"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just">
              <a:lnSpc>
                <a:spcPct val="150000"/>
              </a:lnSpc>
              <a:buFont typeface="Wingdings" panose="05000000000000000000" pitchFamily="2" charset="2"/>
              <a:buChar char="§"/>
            </a:pPr>
            <a:endParaRPr lang="en-IN" altLang="en-US" sz="2400" dirty="0">
              <a:solidFill>
                <a:srgbClr val="000000"/>
              </a:solidFill>
              <a:latin typeface="Times New Roman" panose="02020603050405020304" pitchFamily="18" charset="0"/>
              <a:ea typeface="DejaVu Sans" charset="0"/>
              <a:cs typeface="Times New Roman" panose="02020603050405020304" pitchFamily="18" charset="0"/>
            </a:endParaRPr>
          </a:p>
        </p:txBody>
      </p:sp>
      <p:sp>
        <p:nvSpPr>
          <p:cNvPr id="4" name="Rectangle 1"/>
          <p:cNvSpPr>
            <a:spLocks noChangeArrowheads="1"/>
          </p:cNvSpPr>
          <p:nvPr/>
        </p:nvSpPr>
        <p:spPr bwMode="auto">
          <a:xfrm>
            <a:off x="1981489" y="162738"/>
            <a:ext cx="8229024" cy="959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874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endParaRPr lang="en-IN" altLang="en-US" sz="3266" b="1" dirty="0">
              <a:solidFill>
                <a:srgbClr val="000000"/>
              </a:solidFill>
              <a:latin typeface="Times New Roman" panose="02020603050405020304" pitchFamily="18" charset="0"/>
              <a:ea typeface="DejaVu Sans" charset="0"/>
              <a:cs typeface="DejaVu Sans" charset="0"/>
            </a:endParaRPr>
          </a:p>
        </p:txBody>
      </p:sp>
      <p:sp>
        <p:nvSpPr>
          <p:cNvPr id="3" name="Rectangle 2"/>
          <p:cNvSpPr/>
          <p:nvPr/>
        </p:nvSpPr>
        <p:spPr>
          <a:xfrm>
            <a:off x="421341" y="837805"/>
            <a:ext cx="10919012" cy="5831853"/>
          </a:xfrm>
          <a:prstGeom prst="rect">
            <a:avLst/>
          </a:prstGeom>
        </p:spPr>
        <p:txBody>
          <a:bodyPr wrap="square">
            <a:spAutoFit/>
          </a:bodyPr>
          <a:lstStyle/>
          <a:p>
            <a:pPr algn="just">
              <a:lnSpc>
                <a:spcPct val="150000"/>
              </a:lnSpc>
              <a:buFont typeface="Wingdings" panose="05000000000000000000" pitchFamily="2" charset="2"/>
              <a:buChar char="§"/>
            </a:pPr>
            <a:r>
              <a:rPr lang="en-IN" altLang="en-US" sz="2800" dirty="0">
                <a:latin typeface="Times New Roman" panose="02020603050405020304" pitchFamily="18" charset="0"/>
                <a:cs typeface="Times New Roman" panose="02020603050405020304" pitchFamily="18" charset="0"/>
              </a:rPr>
              <a:t>Introduction</a:t>
            </a:r>
          </a:p>
          <a:p>
            <a:pPr algn="just">
              <a:lnSpc>
                <a:spcPct val="150000"/>
              </a:lnSpc>
              <a:buFont typeface="Wingdings" panose="05000000000000000000" pitchFamily="2" charset="2"/>
              <a:buChar char="§"/>
            </a:pPr>
            <a:r>
              <a:rPr lang="en-IN" altLang="en-US" sz="2800" dirty="0">
                <a:latin typeface="Times New Roman" panose="02020603050405020304" pitchFamily="18" charset="0"/>
                <a:cs typeface="Times New Roman" panose="02020603050405020304" pitchFamily="18" charset="0"/>
              </a:rPr>
              <a:t>Literature Survey of the existing systems</a:t>
            </a:r>
          </a:p>
          <a:p>
            <a:pPr algn="just">
              <a:lnSpc>
                <a:spcPct val="150000"/>
              </a:lnSpc>
              <a:buFont typeface="Wingdings" panose="05000000000000000000" pitchFamily="2" charset="2"/>
              <a:buChar char="§"/>
            </a:pPr>
            <a:r>
              <a:rPr lang="en-IN" altLang="en-US" sz="2800" dirty="0">
                <a:latin typeface="Times New Roman" panose="02020603050405020304" pitchFamily="18" charset="0"/>
                <a:cs typeface="Times New Roman" panose="02020603050405020304" pitchFamily="18" charset="0"/>
              </a:rPr>
              <a:t>Limitations of the existing systems</a:t>
            </a:r>
          </a:p>
          <a:p>
            <a:pPr algn="just">
              <a:lnSpc>
                <a:spcPct val="150000"/>
              </a:lnSpc>
              <a:buFont typeface="Wingdings" panose="05000000000000000000" pitchFamily="2" charset="2"/>
              <a:buChar char="§"/>
            </a:pPr>
            <a:r>
              <a:rPr lang="en-IN" altLang="en-US" sz="2800" dirty="0">
                <a:latin typeface="Times New Roman" panose="02020603050405020304" pitchFamily="18" charset="0"/>
                <a:cs typeface="Times New Roman" panose="02020603050405020304" pitchFamily="18" charset="0"/>
              </a:rPr>
              <a:t>Problem statement </a:t>
            </a:r>
          </a:p>
          <a:p>
            <a:pPr algn="just">
              <a:lnSpc>
                <a:spcPct val="15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System Design</a:t>
            </a:r>
          </a:p>
          <a:p>
            <a:pPr algn="just">
              <a:lnSpc>
                <a:spcPct val="15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Technologies and methodologies</a:t>
            </a:r>
          </a:p>
          <a:p>
            <a:pPr algn="just">
              <a:lnSpc>
                <a:spcPct val="15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Implementation</a:t>
            </a:r>
          </a:p>
          <a:p>
            <a:pPr algn="just">
              <a:lnSpc>
                <a:spcPct val="15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Outcome</a:t>
            </a:r>
          </a:p>
          <a:p>
            <a:pPr algn="just">
              <a:lnSpc>
                <a:spcPct val="150000"/>
              </a:lnSpc>
              <a:buFont typeface="Wingdings" panose="05000000000000000000" pitchFamily="2" charset="2"/>
              <a:buChar char="§"/>
            </a:pPr>
            <a:r>
              <a:rPr lang="en-IN" altLang="en-US" sz="2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6671956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37021-9F33-DCB5-B7E8-22F572808828}"/>
              </a:ext>
            </a:extLst>
          </p:cNvPr>
          <p:cNvSpPr>
            <a:spLocks noGrp="1"/>
          </p:cNvSpPr>
          <p:nvPr>
            <p:ph type="title"/>
          </p:nvPr>
        </p:nvSpPr>
        <p:spPr>
          <a:xfrm>
            <a:off x="1674861" y="289537"/>
            <a:ext cx="8596668" cy="1320800"/>
          </a:xfrm>
        </p:spPr>
        <p:txBody>
          <a:bodyP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Introduction</a:t>
            </a:r>
          </a:p>
        </p:txBody>
      </p:sp>
      <p:sp>
        <p:nvSpPr>
          <p:cNvPr id="3" name="Rectangle 1"/>
          <p:cNvSpPr>
            <a:spLocks noGrp="1" noChangeArrowheads="1"/>
          </p:cNvSpPr>
          <p:nvPr>
            <p:ph idx="1"/>
          </p:nvPr>
        </p:nvSpPr>
        <p:spPr bwMode="auto">
          <a:xfrm>
            <a:off x="465006" y="1361551"/>
            <a:ext cx="10149206" cy="42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Font typeface="Wingdings" panose="05000000000000000000" pitchFamily="2" charset="2"/>
              <a:buChar char="Ø"/>
              <a:defRPr/>
            </a:pPr>
            <a:r>
              <a:rPr lang="en-US" sz="2400" dirty="0">
                <a:solidFill>
                  <a:schemeClr val="tx1"/>
                </a:solidFill>
                <a:latin typeface="Times New Roman" panose="02020603050405020304" pitchFamily="18" charset="0"/>
                <a:cs typeface="Times New Roman" panose="02020603050405020304" pitchFamily="18" charset="0"/>
              </a:rPr>
              <a:t>End-to-end AI-powered lead generation and sales automation platform for GSBG's Salesforce consulting services, targeting the real estate industry.</a:t>
            </a:r>
            <a:endParaRPr lang="en-US" altLang="en-US" sz="24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defRPr/>
            </a:pPr>
            <a:r>
              <a:rPr lang="en-US" sz="2400" dirty="0">
                <a:solidFill>
                  <a:schemeClr val="tx1"/>
                </a:solidFill>
                <a:latin typeface="Times New Roman" panose="02020603050405020304" pitchFamily="18" charset="0"/>
                <a:cs typeface="Times New Roman" panose="02020603050405020304" pitchFamily="18" charset="0"/>
              </a:rPr>
              <a:t>Combines custom AI models with Salesforce </a:t>
            </a:r>
            <a:r>
              <a:rPr lang="en-US" sz="2400" dirty="0" err="1">
                <a:solidFill>
                  <a:schemeClr val="tx1"/>
                </a:solidFill>
                <a:latin typeface="Times New Roman" panose="02020603050405020304" pitchFamily="18" charset="0"/>
                <a:cs typeface="Times New Roman" panose="02020603050405020304" pitchFamily="18" charset="0"/>
              </a:rPr>
              <a:t>Agentforce</a:t>
            </a:r>
            <a:r>
              <a:rPr lang="en-US" sz="2400" dirty="0">
                <a:solidFill>
                  <a:schemeClr val="tx1"/>
                </a:solidFill>
                <a:latin typeface="Times New Roman" panose="02020603050405020304" pitchFamily="18" charset="0"/>
                <a:cs typeface="Times New Roman" panose="02020603050405020304" pitchFamily="18" charset="0"/>
              </a:rPr>
              <a:t> to automatically identify, qualify, and nurture prospects through personalized outreach campaigns.</a:t>
            </a:r>
            <a:endParaRPr lang="en-US" altLang="en-US" sz="24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defRPr/>
            </a:pPr>
            <a:r>
              <a:rPr lang="en-US" sz="2400" dirty="0">
                <a:solidFill>
                  <a:schemeClr val="tx1"/>
                </a:solidFill>
                <a:latin typeface="Times New Roman" panose="02020603050405020304" pitchFamily="18" charset="0"/>
                <a:cs typeface="Times New Roman" panose="02020603050405020304" pitchFamily="18" charset="0"/>
              </a:rPr>
              <a:t>Features complete website redesign with dynamic UI/UX to deliver conversion-focused content and achieve 90% reduction in manual prospecting.</a:t>
            </a:r>
            <a:endParaRPr lang="en-US" altLang="en-US" sz="24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defRPr/>
            </a:pPr>
            <a:r>
              <a:rPr lang="en-US" sz="2400" dirty="0">
                <a:solidFill>
                  <a:schemeClr val="tx1"/>
                </a:solidFill>
                <a:latin typeface="Times New Roman" panose="02020603050405020304" pitchFamily="18" charset="0"/>
                <a:cs typeface="Times New Roman" panose="02020603050405020304" pitchFamily="18" charset="0"/>
              </a:rPr>
              <a:t>Built on modern Next.js/Python with seamless Salesforce CRM and email service integration for real-time automation.</a:t>
            </a:r>
          </a:p>
          <a:p>
            <a:pPr algn="just">
              <a:buFont typeface="Wingdings" panose="05000000000000000000" pitchFamily="2" charset="2"/>
              <a:buChar char="Ø"/>
              <a:defRPr/>
            </a:pPr>
            <a:r>
              <a:rPr lang="en-US" sz="2400" dirty="0">
                <a:solidFill>
                  <a:schemeClr val="tx1"/>
                </a:solidFill>
                <a:latin typeface="Times New Roman" panose="02020603050405020304" pitchFamily="18" charset="0"/>
                <a:cs typeface="Times New Roman" panose="02020603050405020304" pitchFamily="18" charset="0"/>
              </a:rPr>
              <a:t>This Project aligns with SDG goal 8 and 9.</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0764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86FB1-BB23-70B5-7AFB-E07C91862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AA8E3-98E8-3330-9D72-D0DB6CA803E9}"/>
              </a:ext>
            </a:extLst>
          </p:cNvPr>
          <p:cNvSpPr>
            <a:spLocks noGrp="1"/>
          </p:cNvSpPr>
          <p:nvPr>
            <p:ph type="title"/>
          </p:nvPr>
        </p:nvSpPr>
        <p:spPr>
          <a:xfrm>
            <a:off x="1218247" y="201478"/>
            <a:ext cx="8596668" cy="1131376"/>
          </a:xfrm>
        </p:spPr>
        <p:txBody>
          <a:bodyPr>
            <a:normAutofit fontScale="90000"/>
          </a:bodyPr>
          <a:lstStyle/>
          <a:p>
            <a:pPr algn="ctr"/>
            <a:r>
              <a:rPr lang="en-US" sz="4400" b="1" dirty="0">
                <a:solidFill>
                  <a:schemeClr val="tx1"/>
                </a:solidFill>
                <a:latin typeface="Times New Roman" panose="02020603050405020304" pitchFamily="18" charset="0"/>
                <a:cs typeface="Times New Roman" panose="02020603050405020304" pitchFamily="18" charset="0"/>
              </a:rPr>
              <a:t>Literature Survey of Existing System</a:t>
            </a:r>
          </a:p>
        </p:txBody>
      </p:sp>
      <p:graphicFrame>
        <p:nvGraphicFramePr>
          <p:cNvPr id="9" name="Table 8">
            <a:extLst>
              <a:ext uri="{FF2B5EF4-FFF2-40B4-BE49-F238E27FC236}">
                <a16:creationId xmlns:a16="http://schemas.microsoft.com/office/drawing/2014/main" id="{D3A19022-EA48-2CBD-847C-23EFD11732BF}"/>
              </a:ext>
            </a:extLst>
          </p:cNvPr>
          <p:cNvGraphicFramePr>
            <a:graphicFrameLocks noGrp="1"/>
          </p:cNvGraphicFramePr>
          <p:nvPr>
            <p:extLst>
              <p:ext uri="{D42A27DB-BD31-4B8C-83A1-F6EECF244321}">
                <p14:modId xmlns:p14="http://schemas.microsoft.com/office/powerpoint/2010/main" val="2675492257"/>
              </p:ext>
            </p:extLst>
          </p:nvPr>
        </p:nvGraphicFramePr>
        <p:xfrm>
          <a:off x="403412" y="1022895"/>
          <a:ext cx="11403106" cy="5835105"/>
        </p:xfrm>
        <a:graphic>
          <a:graphicData uri="http://schemas.openxmlformats.org/drawingml/2006/table">
            <a:tbl>
              <a:tblPr firstRow="1" bandRow="1">
                <a:tableStyleId>{5C22544A-7EE6-4342-B048-85BDC9FD1C3A}</a:tableStyleId>
              </a:tblPr>
              <a:tblGrid>
                <a:gridCol w="2294964">
                  <a:extLst>
                    <a:ext uri="{9D8B030D-6E8A-4147-A177-3AD203B41FA5}">
                      <a16:colId xmlns:a16="http://schemas.microsoft.com/office/drawing/2014/main" val="2486226202"/>
                    </a:ext>
                  </a:extLst>
                </a:gridCol>
                <a:gridCol w="753036">
                  <a:extLst>
                    <a:ext uri="{9D8B030D-6E8A-4147-A177-3AD203B41FA5}">
                      <a16:colId xmlns:a16="http://schemas.microsoft.com/office/drawing/2014/main" val="204117708"/>
                    </a:ext>
                  </a:extLst>
                </a:gridCol>
                <a:gridCol w="2510117">
                  <a:extLst>
                    <a:ext uri="{9D8B030D-6E8A-4147-A177-3AD203B41FA5}">
                      <a16:colId xmlns:a16="http://schemas.microsoft.com/office/drawing/2014/main" val="3331639783"/>
                    </a:ext>
                  </a:extLst>
                </a:gridCol>
                <a:gridCol w="2982520">
                  <a:extLst>
                    <a:ext uri="{9D8B030D-6E8A-4147-A177-3AD203B41FA5}">
                      <a16:colId xmlns:a16="http://schemas.microsoft.com/office/drawing/2014/main" val="393104671"/>
                    </a:ext>
                  </a:extLst>
                </a:gridCol>
                <a:gridCol w="2862469">
                  <a:extLst>
                    <a:ext uri="{9D8B030D-6E8A-4147-A177-3AD203B41FA5}">
                      <a16:colId xmlns:a16="http://schemas.microsoft.com/office/drawing/2014/main" val="598000039"/>
                    </a:ext>
                  </a:extLst>
                </a:gridCol>
              </a:tblGrid>
              <a:tr h="52375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Ti</a:t>
                      </a:r>
                      <a:r>
                        <a:rPr lang="en-IN" sz="1800" b="1" kern="1200" dirty="0">
                          <a:solidFill>
                            <a:schemeClr val="lt1"/>
                          </a:solidFill>
                          <a:latin typeface="Times New Roman" panose="02020603050405020304" pitchFamily="18" charset="0"/>
                          <a:ea typeface="+mn-ea"/>
                          <a:cs typeface="Times New Roman" panose="02020603050405020304" pitchFamily="18" charset="0"/>
                        </a:rPr>
                        <a:t>tl</a:t>
                      </a:r>
                      <a:r>
                        <a:rPr lang="en-IN" sz="1800" dirty="0">
                          <a:latin typeface="Times New Roman" panose="02020603050405020304" pitchFamily="18" charset="0"/>
                          <a:cs typeface="Times New Roman" panose="02020603050405020304" pitchFamily="18" charset="0"/>
                        </a:rPr>
                        <a:t>e</a:t>
                      </a:r>
                      <a:endParaRPr lang="en-IN" dirty="0"/>
                    </a:p>
                  </a:txBody>
                  <a:tcPr/>
                </a:tc>
                <a:tc>
                  <a:txBody>
                    <a:bodyPr/>
                    <a:lstStyle/>
                    <a:p>
                      <a:r>
                        <a:rPr lang="en-IN" sz="1800" b="1" kern="1200" dirty="0">
                          <a:solidFill>
                            <a:schemeClr val="lt1"/>
                          </a:solidFill>
                          <a:latin typeface="Times New Roman" panose="02020603050405020304" pitchFamily="18" charset="0"/>
                          <a:ea typeface="+mn-ea"/>
                          <a:cs typeface="Times New Roman" panose="02020603050405020304" pitchFamily="18" charset="0"/>
                        </a:rPr>
                        <a:t>Year</a:t>
                      </a:r>
                    </a:p>
                  </a:txBody>
                  <a:tcPr/>
                </a:tc>
                <a:tc>
                  <a:txBody>
                    <a:bodyPr/>
                    <a:lstStyle/>
                    <a:p>
                      <a:r>
                        <a:rPr lang="en-IN" sz="1800" dirty="0">
                          <a:latin typeface="Times New Roman" panose="02020603050405020304" pitchFamily="18" charset="0"/>
                          <a:cs typeface="Times New Roman" panose="02020603050405020304" pitchFamily="18" charset="0"/>
                        </a:rPr>
                        <a:t>Author</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Description</a:t>
                      </a:r>
                      <a:endParaRPr lang="en-IN" dirty="0"/>
                    </a:p>
                  </a:txBody>
                  <a:tcPr/>
                </a:tc>
                <a:tc>
                  <a:txBody>
                    <a:bodyPr/>
                    <a:lstStyle/>
                    <a:p>
                      <a:r>
                        <a:rPr lang="en-IN" sz="1800" dirty="0">
                          <a:latin typeface="Times New Roman" panose="02020603050405020304" pitchFamily="18" charset="0"/>
                          <a:cs typeface="Times New Roman" panose="02020603050405020304" pitchFamily="18" charset="0"/>
                        </a:rPr>
                        <a:t>Limitation</a:t>
                      </a:r>
                      <a:endParaRPr lang="en-IN" dirty="0"/>
                    </a:p>
                  </a:txBody>
                  <a:tcPr/>
                </a:tc>
                <a:extLst>
                  <a:ext uri="{0D108BD9-81ED-4DB2-BD59-A6C34878D82A}">
                    <a16:rowId xmlns:a16="http://schemas.microsoft.com/office/drawing/2014/main" val="1621165003"/>
                  </a:ext>
                </a:extLst>
              </a:tr>
              <a:tr h="1562314">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Times New Roman" panose="02020603050405020304" pitchFamily="18" charset="0"/>
                          <a:ea typeface="+mn-ea"/>
                          <a:cs typeface="Times New Roman" panose="02020603050405020304" pitchFamily="18" charset="0"/>
                        </a:rPr>
                        <a:t>Evolution of CRM: How Salesforce Einstein AI Simplifies Predictive Analytics</a:t>
                      </a:r>
                    </a:p>
                    <a:p>
                      <a:pPr algn="just"/>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IN" sz="1800" b="0" kern="1200" dirty="0">
                          <a:solidFill>
                            <a:schemeClr val="tx1"/>
                          </a:solidFill>
                          <a:latin typeface="Times New Roman" panose="02020603050405020304" pitchFamily="18" charset="0"/>
                          <a:ea typeface="+mn-ea"/>
                          <a:cs typeface="Times New Roman" panose="02020603050405020304" pitchFamily="18" charset="0"/>
                        </a:rPr>
                        <a:t>2025</a:t>
                      </a:r>
                    </a:p>
                  </a:txBody>
                  <a:tcPr/>
                </a:tc>
                <a:tc>
                  <a:txBody>
                    <a:bodyPr/>
                    <a:lstStyle/>
                    <a:p>
                      <a:pPr algn="l"/>
                      <a:r>
                        <a:rPr lang="en-IN" sz="1800" b="0" kern="1200" dirty="0" err="1">
                          <a:solidFill>
                            <a:schemeClr val="tx1"/>
                          </a:solidFill>
                          <a:latin typeface="Times New Roman" panose="02020603050405020304" pitchFamily="18" charset="0"/>
                          <a:ea typeface="+mn-ea"/>
                          <a:cs typeface="Times New Roman" panose="02020603050405020304" pitchFamily="18" charset="0"/>
                        </a:rPr>
                        <a:t>Shivakrishna</a:t>
                      </a:r>
                      <a:r>
                        <a:rPr lang="en-IN" sz="1800" b="0" kern="1200" dirty="0">
                          <a:solidFill>
                            <a:schemeClr val="tx1"/>
                          </a:solidFill>
                          <a:latin typeface="Times New Roman" panose="02020603050405020304" pitchFamily="18" charset="0"/>
                          <a:ea typeface="+mn-ea"/>
                          <a:cs typeface="Times New Roman" panose="02020603050405020304" pitchFamily="18" charset="0"/>
                        </a:rPr>
                        <a:t> Deepak </a:t>
                      </a:r>
                      <a:r>
                        <a:rPr lang="en-IN" sz="1800" b="0" kern="1200" dirty="0" err="1">
                          <a:solidFill>
                            <a:schemeClr val="tx1"/>
                          </a:solidFill>
                          <a:latin typeface="Times New Roman" panose="02020603050405020304" pitchFamily="18" charset="0"/>
                          <a:ea typeface="+mn-ea"/>
                          <a:cs typeface="Times New Roman" panose="02020603050405020304" pitchFamily="18" charset="0"/>
                        </a:rPr>
                        <a:t>Veeravalli</a:t>
                      </a:r>
                      <a:br>
                        <a:rPr lang="en-IN" sz="1800" b="0" kern="1200" dirty="0">
                          <a:solidFill>
                            <a:schemeClr val="tx1"/>
                          </a:solidFill>
                          <a:latin typeface="Times New Roman" panose="02020603050405020304" pitchFamily="18" charset="0"/>
                          <a:ea typeface="+mn-ea"/>
                          <a:cs typeface="Times New Roman" panose="02020603050405020304" pitchFamily="18" charset="0"/>
                        </a:rPr>
                      </a:b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Predictive analytics for CRM systems.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Enhanced dashboards with automated insights.</a:t>
                      </a:r>
                    </a:p>
                  </a:txBody>
                  <a:tcPr/>
                </a:tc>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Overview-focused without technical depth. No real-time engagement or domain-specific implementation</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678058651"/>
                  </a:ext>
                </a:extLst>
              </a:tr>
              <a:tr h="1684030">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Times New Roman" panose="02020603050405020304" pitchFamily="18" charset="0"/>
                          <a:ea typeface="+mn-ea"/>
                          <a:cs typeface="Times New Roman" panose="02020603050405020304" pitchFamily="18" charset="0"/>
                        </a:rPr>
                        <a:t>Grounded Persuasive Language Generation for Automated Marketing</a:t>
                      </a:r>
                    </a:p>
                    <a:p>
                      <a:pPr algn="just"/>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just"/>
                      <a:r>
                        <a:rPr lang="en-IN" sz="1800" b="0" kern="1200" dirty="0">
                          <a:solidFill>
                            <a:schemeClr val="tx1"/>
                          </a:solidFill>
                          <a:latin typeface="Times New Roman" panose="02020603050405020304" pitchFamily="18" charset="0"/>
                          <a:ea typeface="+mn-ea"/>
                          <a:cs typeface="Times New Roman" panose="02020603050405020304" pitchFamily="18" charset="0"/>
                        </a:rPr>
                        <a:t>2025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u="none" kern="1200" dirty="0" err="1">
                          <a:solidFill>
                            <a:schemeClr val="tx1"/>
                          </a:solidFill>
                          <a:latin typeface="Times New Roman" panose="02020603050405020304" pitchFamily="18" charset="0"/>
                          <a:ea typeface="+mn-ea"/>
                          <a:cs typeface="Times New Roman" panose="02020603050405020304" pitchFamily="18" charset="0"/>
                        </a:rPr>
                        <a:t>Jibang</a:t>
                      </a:r>
                      <a:r>
                        <a:rPr lang="en-IN" sz="1800" b="0" u="none" kern="1200" dirty="0">
                          <a:solidFill>
                            <a:schemeClr val="tx1"/>
                          </a:solidFill>
                          <a:latin typeface="Times New Roman" panose="02020603050405020304" pitchFamily="18" charset="0"/>
                          <a:ea typeface="+mn-ea"/>
                          <a:cs typeface="Times New Roman" panose="02020603050405020304" pitchFamily="18" charset="0"/>
                        </a:rPr>
                        <a:t> Wu, </a:t>
                      </a:r>
                      <a:r>
                        <a:rPr lang="en-IN" sz="1800" b="0" u="none" kern="1200" dirty="0" err="1">
                          <a:solidFill>
                            <a:schemeClr val="tx1"/>
                          </a:solidFill>
                          <a:latin typeface="Times New Roman" panose="02020603050405020304" pitchFamily="18" charset="0"/>
                          <a:ea typeface="+mn-ea"/>
                          <a:cs typeface="Times New Roman" panose="02020603050405020304" pitchFamily="18" charset="0"/>
                        </a:rPr>
                        <a:t>Chenghao</a:t>
                      </a:r>
                      <a:r>
                        <a:rPr lang="en-IN" sz="1800" b="0" u="none" kern="1200" dirty="0">
                          <a:solidFill>
                            <a:schemeClr val="tx1"/>
                          </a:solidFill>
                          <a:latin typeface="Times New Roman" panose="02020603050405020304" pitchFamily="18" charset="0"/>
                          <a:ea typeface="+mn-ea"/>
                          <a:cs typeface="Times New Roman" panose="02020603050405020304" pitchFamily="18" charset="0"/>
                        </a:rPr>
                        <a:t> Yang, Simon </a:t>
                      </a:r>
                      <a:r>
                        <a:rPr lang="en-IN" sz="1800" b="0" u="none" kern="1200" dirty="0" err="1">
                          <a:solidFill>
                            <a:schemeClr val="tx1"/>
                          </a:solidFill>
                          <a:latin typeface="Times New Roman" panose="02020603050405020304" pitchFamily="18" charset="0"/>
                          <a:ea typeface="+mn-ea"/>
                          <a:cs typeface="Times New Roman" panose="02020603050405020304" pitchFamily="18" charset="0"/>
                        </a:rPr>
                        <a:t>Mahns</a:t>
                      </a:r>
                      <a:r>
                        <a:rPr lang="en-IN" sz="1800" b="0" u="none" kern="1200" dirty="0">
                          <a:solidFill>
                            <a:schemeClr val="tx1"/>
                          </a:solidFill>
                          <a:latin typeface="Times New Roman" panose="02020603050405020304" pitchFamily="18" charset="0"/>
                          <a:ea typeface="+mn-ea"/>
                          <a:cs typeface="Times New Roman" panose="02020603050405020304" pitchFamily="18" charset="0"/>
                        </a:rPr>
                        <a:t>, Yi Wu, </a:t>
                      </a:r>
                      <a:r>
                        <a:rPr lang="en-IN" sz="1800" b="0" u="none" kern="1200" dirty="0" err="1">
                          <a:solidFill>
                            <a:schemeClr val="tx1"/>
                          </a:solidFill>
                          <a:latin typeface="Times New Roman" panose="02020603050405020304" pitchFamily="18" charset="0"/>
                          <a:ea typeface="+mn-ea"/>
                          <a:cs typeface="Times New Roman" panose="02020603050405020304" pitchFamily="18" charset="0"/>
                        </a:rPr>
                        <a:t>Chaoqi</a:t>
                      </a:r>
                      <a:r>
                        <a:rPr lang="en-IN" sz="1800" b="0" u="none" kern="1200" dirty="0">
                          <a:solidFill>
                            <a:schemeClr val="tx1"/>
                          </a:solidFill>
                          <a:latin typeface="Times New Roman" panose="02020603050405020304" pitchFamily="18" charset="0"/>
                          <a:ea typeface="+mn-ea"/>
                          <a:cs typeface="Times New Roman" panose="02020603050405020304" pitchFamily="18" charset="0"/>
                        </a:rPr>
                        <a:t> Wang, Hao Zhu, Fei Fang, Haifeng Xu</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Personalized</a:t>
                      </a:r>
                      <a:r>
                        <a:rPr lang="en-US" baseline="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content generation using LLMs.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Produces superior quality </a:t>
                      </a:r>
                      <a:r>
                        <a:rPr lang="en-US" dirty="0" err="1">
                          <a:latin typeface="Times New Roman" panose="02020603050405020304" pitchFamily="18" charset="0"/>
                          <a:cs typeface="Times New Roman" panose="02020603050405020304" pitchFamily="18" charset="0"/>
                        </a:rPr>
                        <a:t>vs</a:t>
                      </a:r>
                      <a:r>
                        <a:rPr lang="en-US" dirty="0">
                          <a:latin typeface="Times New Roman" panose="02020603050405020304" pitchFamily="18" charset="0"/>
                          <a:cs typeface="Times New Roman" panose="02020603050405020304" pitchFamily="18" charset="0"/>
                        </a:rPr>
                        <a:t> human content.</a:t>
                      </a:r>
                    </a:p>
                  </a:txBody>
                  <a:tcPr/>
                </a:tc>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Content-only focus without CRM integration. No lead routing or handoff mechanisms. Limited campaign effectiveness evaluation</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597306296"/>
                  </a:ext>
                </a:extLst>
              </a:tr>
              <a:tr h="984987">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kern="1200" dirty="0" err="1">
                          <a:solidFill>
                            <a:schemeClr val="tx1"/>
                          </a:solidFill>
                          <a:latin typeface="Times New Roman" panose="02020603050405020304" pitchFamily="18" charset="0"/>
                          <a:ea typeface="+mn-ea"/>
                          <a:cs typeface="Times New Roman" panose="02020603050405020304" pitchFamily="18" charset="0"/>
                        </a:rPr>
                        <a:t>Optimising</a:t>
                      </a:r>
                      <a:r>
                        <a:rPr lang="en-US" sz="1800" b="0" kern="1200" dirty="0">
                          <a:solidFill>
                            <a:schemeClr val="tx1"/>
                          </a:solidFill>
                          <a:latin typeface="Times New Roman" panose="02020603050405020304" pitchFamily="18" charset="0"/>
                          <a:ea typeface="+mn-ea"/>
                          <a:cs typeface="Times New Roman" panose="02020603050405020304" pitchFamily="18" charset="0"/>
                        </a:rPr>
                        <a:t> Lead Qualification through Machine Learning</a:t>
                      </a:r>
                    </a:p>
                    <a:p>
                      <a:pPr algn="just"/>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just"/>
                      <a:r>
                        <a:rPr lang="en-IN" sz="1800" b="0" kern="1200" dirty="0">
                          <a:solidFill>
                            <a:schemeClr val="tx1"/>
                          </a:solidFill>
                          <a:latin typeface="Times New Roman" panose="02020603050405020304" pitchFamily="18" charset="0"/>
                          <a:ea typeface="+mn-ea"/>
                          <a:cs typeface="Times New Roman" panose="02020603050405020304" pitchFamily="18" charset="0"/>
                        </a:rPr>
                        <a:t>2024</a:t>
                      </a:r>
                    </a:p>
                  </a:txBody>
                  <a:tcPr/>
                </a:tc>
                <a:tc>
                  <a:txBody>
                    <a:bodyPr/>
                    <a:lstStyle/>
                    <a:p>
                      <a:pPr algn="l"/>
                      <a:r>
                        <a:rPr lang="en-IN" sz="1800" b="0" kern="1200" dirty="0">
                          <a:solidFill>
                            <a:schemeClr val="tx1"/>
                          </a:solidFill>
                          <a:latin typeface="Times New Roman" panose="02020603050405020304" pitchFamily="18" charset="0"/>
                          <a:ea typeface="+mn-ea"/>
                          <a:cs typeface="Times New Roman" panose="02020603050405020304" pitchFamily="18" charset="0"/>
                        </a:rPr>
                        <a:t>Josephine V L, Helen, Moorthy, Vasudevan, Sai, Chandana, Joji, </a:t>
                      </a:r>
                      <a:r>
                        <a:rPr lang="en-IN" sz="1800" b="0" kern="1200" dirty="0" err="1">
                          <a:solidFill>
                            <a:schemeClr val="tx1"/>
                          </a:solidFill>
                          <a:latin typeface="Times New Roman" panose="02020603050405020304" pitchFamily="18" charset="0"/>
                          <a:ea typeface="+mn-ea"/>
                          <a:cs typeface="Times New Roman" panose="02020603050405020304" pitchFamily="18" charset="0"/>
                        </a:rPr>
                        <a:t>Bindhia</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ML algorithms for lead scoring.</a:t>
                      </a:r>
                    </a:p>
                    <a:p>
                      <a:pPr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53.1%</a:t>
                      </a:r>
                      <a:r>
                        <a:rPr lang="en-US" baseline="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accuracy improvement achieved.</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Prioritizes accuracy over real-time engagement.</a:t>
                      </a:r>
                    </a:p>
                    <a:p>
                      <a:endParaRPr lang="en-US" dirty="0"/>
                    </a:p>
                  </a:txBody>
                  <a:tcPr marL="60960" marR="60960" anchor="ctr"/>
                </a:tc>
                <a:tc>
                  <a:txBody>
                    <a:bodyPr/>
                    <a:lstStyle/>
                    <a:p>
                      <a:pPr algn="just" fontAlgn="base" latinLnBrk="0"/>
                      <a:r>
                        <a:rPr lang="en-US" sz="1800" b="0" kern="1200" dirty="0">
                          <a:solidFill>
                            <a:schemeClr val="tx1"/>
                          </a:solidFill>
                          <a:latin typeface="Times New Roman" panose="02020603050405020304" pitchFamily="18" charset="0"/>
                          <a:ea typeface="+mn-ea"/>
                          <a:cs typeface="Times New Roman" panose="02020603050405020304" pitchFamily="18" charset="0"/>
                        </a:rPr>
                        <a:t>Low accuracy (53.1%). No real-time processing. Manual intervention required. Limited dataset generalizability</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marL="60960" marR="60960"/>
                </a:tc>
                <a:extLst>
                  <a:ext uri="{0D108BD9-81ED-4DB2-BD59-A6C34878D82A}">
                    <a16:rowId xmlns:a16="http://schemas.microsoft.com/office/drawing/2014/main" val="1021738941"/>
                  </a:ext>
                </a:extLst>
              </a:tr>
            </a:tbl>
          </a:graphicData>
        </a:graphic>
      </p:graphicFrame>
    </p:spTree>
    <p:extLst>
      <p:ext uri="{BB962C8B-B14F-4D97-AF65-F5344CB8AC3E}">
        <p14:creationId xmlns:p14="http://schemas.microsoft.com/office/powerpoint/2010/main" val="1276213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32266-F6F6-C741-74CA-055051498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4DCA4-726B-99F7-A051-4D95668A09EE}"/>
              </a:ext>
            </a:extLst>
          </p:cNvPr>
          <p:cNvSpPr>
            <a:spLocks noGrp="1"/>
          </p:cNvSpPr>
          <p:nvPr>
            <p:ph type="title"/>
          </p:nvPr>
        </p:nvSpPr>
        <p:spPr>
          <a:xfrm>
            <a:off x="1218247" y="201478"/>
            <a:ext cx="8596668" cy="1131376"/>
          </a:xfrm>
        </p:spPr>
        <p:txBody>
          <a:bodyPr>
            <a:normAutofit fontScale="90000"/>
          </a:bodyPr>
          <a:lstStyle/>
          <a:p>
            <a:pPr algn="ctr"/>
            <a:r>
              <a:rPr lang="en-US" sz="4400" b="1" dirty="0">
                <a:solidFill>
                  <a:schemeClr val="tx1"/>
                </a:solidFill>
                <a:latin typeface="Times New Roman" panose="02020603050405020304" pitchFamily="18" charset="0"/>
                <a:cs typeface="Times New Roman" panose="02020603050405020304" pitchFamily="18" charset="0"/>
              </a:rPr>
              <a:t>Literature Survey of Existing System</a:t>
            </a:r>
          </a:p>
        </p:txBody>
      </p:sp>
      <p:graphicFrame>
        <p:nvGraphicFramePr>
          <p:cNvPr id="9" name="Table 8">
            <a:extLst>
              <a:ext uri="{FF2B5EF4-FFF2-40B4-BE49-F238E27FC236}">
                <a16:creationId xmlns:a16="http://schemas.microsoft.com/office/drawing/2014/main" id="{6332DEFB-10A3-4BA6-746F-9D6652BB29DE}"/>
              </a:ext>
            </a:extLst>
          </p:cNvPr>
          <p:cNvGraphicFramePr>
            <a:graphicFrameLocks noGrp="1"/>
          </p:cNvGraphicFramePr>
          <p:nvPr>
            <p:extLst>
              <p:ext uri="{D42A27DB-BD31-4B8C-83A1-F6EECF244321}">
                <p14:modId xmlns:p14="http://schemas.microsoft.com/office/powerpoint/2010/main" val="3381625668"/>
              </p:ext>
            </p:extLst>
          </p:nvPr>
        </p:nvGraphicFramePr>
        <p:xfrm>
          <a:off x="403412" y="973355"/>
          <a:ext cx="11403106" cy="5750343"/>
        </p:xfrm>
        <a:graphic>
          <a:graphicData uri="http://schemas.openxmlformats.org/drawingml/2006/table">
            <a:tbl>
              <a:tblPr firstRow="1" bandRow="1">
                <a:tableStyleId>{5C22544A-7EE6-4342-B048-85BDC9FD1C3A}</a:tableStyleId>
              </a:tblPr>
              <a:tblGrid>
                <a:gridCol w="2214282">
                  <a:extLst>
                    <a:ext uri="{9D8B030D-6E8A-4147-A177-3AD203B41FA5}">
                      <a16:colId xmlns:a16="http://schemas.microsoft.com/office/drawing/2014/main" val="2486226202"/>
                    </a:ext>
                  </a:extLst>
                </a:gridCol>
                <a:gridCol w="762000">
                  <a:extLst>
                    <a:ext uri="{9D8B030D-6E8A-4147-A177-3AD203B41FA5}">
                      <a16:colId xmlns:a16="http://schemas.microsoft.com/office/drawing/2014/main" val="204117708"/>
                    </a:ext>
                  </a:extLst>
                </a:gridCol>
                <a:gridCol w="2259106">
                  <a:extLst>
                    <a:ext uri="{9D8B030D-6E8A-4147-A177-3AD203B41FA5}">
                      <a16:colId xmlns:a16="http://schemas.microsoft.com/office/drawing/2014/main" val="3331639783"/>
                    </a:ext>
                  </a:extLst>
                </a:gridCol>
                <a:gridCol w="3307976">
                  <a:extLst>
                    <a:ext uri="{9D8B030D-6E8A-4147-A177-3AD203B41FA5}">
                      <a16:colId xmlns:a16="http://schemas.microsoft.com/office/drawing/2014/main" val="393104671"/>
                    </a:ext>
                  </a:extLst>
                </a:gridCol>
                <a:gridCol w="2859742">
                  <a:extLst>
                    <a:ext uri="{9D8B030D-6E8A-4147-A177-3AD203B41FA5}">
                      <a16:colId xmlns:a16="http://schemas.microsoft.com/office/drawing/2014/main" val="598000039"/>
                    </a:ext>
                  </a:extLst>
                </a:gridCol>
              </a:tblGrid>
              <a:tr h="52375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Ti</a:t>
                      </a:r>
                      <a:r>
                        <a:rPr lang="en-IN" sz="1800" b="1" kern="1200" dirty="0">
                          <a:solidFill>
                            <a:schemeClr val="lt1"/>
                          </a:solidFill>
                          <a:latin typeface="Times New Roman" panose="02020603050405020304" pitchFamily="18" charset="0"/>
                          <a:ea typeface="+mn-ea"/>
                          <a:cs typeface="Times New Roman" panose="02020603050405020304" pitchFamily="18" charset="0"/>
                        </a:rPr>
                        <a:t>tl</a:t>
                      </a:r>
                      <a:r>
                        <a:rPr lang="en-IN" sz="1800" dirty="0">
                          <a:latin typeface="Times New Roman" panose="02020603050405020304" pitchFamily="18" charset="0"/>
                          <a:cs typeface="Times New Roman" panose="02020603050405020304" pitchFamily="18" charset="0"/>
                        </a:rPr>
                        <a:t>e</a:t>
                      </a:r>
                      <a:endParaRPr lang="en-IN" dirty="0"/>
                    </a:p>
                  </a:txBody>
                  <a:tcPr/>
                </a:tc>
                <a:tc>
                  <a:txBody>
                    <a:bodyPr/>
                    <a:lstStyle/>
                    <a:p>
                      <a:r>
                        <a:rPr lang="en-IN" sz="1800" b="1" kern="1200" dirty="0">
                          <a:solidFill>
                            <a:schemeClr val="lt1"/>
                          </a:solidFill>
                          <a:latin typeface="Times New Roman" panose="02020603050405020304" pitchFamily="18" charset="0"/>
                          <a:ea typeface="+mn-ea"/>
                          <a:cs typeface="Times New Roman" panose="02020603050405020304" pitchFamily="18" charset="0"/>
                        </a:rPr>
                        <a:t>Year</a:t>
                      </a:r>
                    </a:p>
                  </a:txBody>
                  <a:tcPr/>
                </a:tc>
                <a:tc>
                  <a:txBody>
                    <a:bodyPr/>
                    <a:lstStyle/>
                    <a:p>
                      <a:r>
                        <a:rPr lang="en-IN" sz="1800" dirty="0">
                          <a:latin typeface="Times New Roman" panose="02020603050405020304" pitchFamily="18" charset="0"/>
                          <a:cs typeface="Times New Roman" panose="02020603050405020304" pitchFamily="18" charset="0"/>
                        </a:rPr>
                        <a:t>Author</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Description</a:t>
                      </a:r>
                      <a:endParaRPr lang="en-IN" dirty="0"/>
                    </a:p>
                  </a:txBody>
                  <a:tcPr/>
                </a:tc>
                <a:tc>
                  <a:txBody>
                    <a:bodyPr/>
                    <a:lstStyle/>
                    <a:p>
                      <a:r>
                        <a:rPr lang="en-IN" sz="1800" dirty="0">
                          <a:latin typeface="Times New Roman" panose="02020603050405020304" pitchFamily="18" charset="0"/>
                          <a:cs typeface="Times New Roman" panose="02020603050405020304" pitchFamily="18" charset="0"/>
                        </a:rPr>
                        <a:t>Limitation</a:t>
                      </a:r>
                      <a:endParaRPr lang="en-IN" dirty="0"/>
                    </a:p>
                  </a:txBody>
                  <a:tcPr/>
                </a:tc>
                <a:extLst>
                  <a:ext uri="{0D108BD9-81ED-4DB2-BD59-A6C34878D82A}">
                    <a16:rowId xmlns:a16="http://schemas.microsoft.com/office/drawing/2014/main" val="1621165003"/>
                  </a:ext>
                </a:extLst>
              </a:tr>
              <a:tr h="1329232">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Times New Roman" panose="02020603050405020304" pitchFamily="18" charset="0"/>
                          <a:ea typeface="+mn-ea"/>
                          <a:cs typeface="Times New Roman" panose="02020603050405020304" pitchFamily="18" charset="0"/>
                        </a:rPr>
                        <a:t>AI-Powered Decision-Making: Enhancing BI with Tableau and Einstein Discovery</a:t>
                      </a:r>
                    </a:p>
                    <a:p>
                      <a:pPr algn="just"/>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2024</a:t>
                      </a: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Bobby Brill</a:t>
                      </a:r>
                    </a:p>
                  </a:txBody>
                  <a:tcPr/>
                </a:tc>
                <a:tc>
                  <a: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Combines Tableau with Einstein for business intelligence.</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Enhances decision-making speed.</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Focused on analytics, not proactive lead capture.</a:t>
                      </a:r>
                    </a:p>
                  </a:txBody>
                  <a:tcPr/>
                </a:tc>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Reactive approach without proactive engagement. Platform-dependent with integration complexity</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722818037"/>
                  </a:ext>
                </a:extLst>
              </a:tr>
              <a:tr h="1751872">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Times New Roman" panose="02020603050405020304" pitchFamily="18" charset="0"/>
                          <a:ea typeface="+mn-ea"/>
                          <a:cs typeface="Times New Roman" panose="02020603050405020304" pitchFamily="18" charset="0"/>
                        </a:rPr>
                        <a:t>Marketing Automation &amp; AI Report 2024: B2B Lead Management</a:t>
                      </a:r>
                    </a:p>
                    <a:p>
                      <a:pPr algn="just"/>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2024</a:t>
                      </a: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Darius </a:t>
                      </a:r>
                      <a:r>
                        <a:rPr lang="en-IN" sz="1800" b="0" kern="1200" dirty="0" err="1">
                          <a:solidFill>
                            <a:schemeClr val="tx1"/>
                          </a:solidFill>
                          <a:latin typeface="Times New Roman" panose="02020603050405020304" pitchFamily="18" charset="0"/>
                          <a:ea typeface="+mn-ea"/>
                          <a:cs typeface="Times New Roman" panose="02020603050405020304" pitchFamily="18" charset="0"/>
                        </a:rPr>
                        <a:t>Zumstein</a:t>
                      </a:r>
                      <a:r>
                        <a:rPr lang="en-IN" sz="1800" b="0" kern="1200" dirty="0">
                          <a:solidFill>
                            <a:schemeClr val="tx1"/>
                          </a:solidFill>
                          <a:latin typeface="Times New Roman" panose="02020603050405020304" pitchFamily="18" charset="0"/>
                          <a:ea typeface="+mn-ea"/>
                          <a:cs typeface="Times New Roman" panose="02020603050405020304" pitchFamily="18" charset="0"/>
                        </a:rPr>
                        <a:t> Michèle </a:t>
                      </a:r>
                      <a:r>
                        <a:rPr lang="en-IN" sz="1800" b="0" kern="1200" dirty="0" err="1">
                          <a:solidFill>
                            <a:schemeClr val="tx1"/>
                          </a:solidFill>
                          <a:latin typeface="Times New Roman" panose="02020603050405020304" pitchFamily="18" charset="0"/>
                          <a:ea typeface="+mn-ea"/>
                          <a:cs typeface="Times New Roman" panose="02020603050405020304" pitchFamily="18" charset="0"/>
                        </a:rPr>
                        <a:t>Rettenmund</a:t>
                      </a:r>
                      <a:r>
                        <a:rPr lang="en-IN" sz="1800" b="0" kern="1200" dirty="0">
                          <a:solidFill>
                            <a:schemeClr val="tx1"/>
                          </a:solidFill>
                          <a:latin typeface="Times New Roman" panose="02020603050405020304" pitchFamily="18" charset="0"/>
                          <a:ea typeface="+mn-ea"/>
                          <a:cs typeface="Times New Roman" panose="02020603050405020304" pitchFamily="18" charset="0"/>
                        </a:rPr>
                        <a:t> Marc Gasser Virginie Cantin </a:t>
                      </a:r>
                      <a:r>
                        <a:rPr lang="en-IN" sz="1800" b="0" kern="1200" dirty="0" err="1">
                          <a:solidFill>
                            <a:schemeClr val="tx1"/>
                          </a:solidFill>
                          <a:latin typeface="Times New Roman" panose="02020603050405020304" pitchFamily="18" charset="0"/>
                          <a:ea typeface="+mn-ea"/>
                          <a:cs typeface="Times New Roman" panose="02020603050405020304" pitchFamily="18" charset="0"/>
                        </a:rPr>
                        <a:t>Urs</a:t>
                      </a:r>
                      <a:r>
                        <a:rPr lang="en-IN" sz="1800" b="0" kern="1200" dirty="0">
                          <a:solidFill>
                            <a:schemeClr val="tx1"/>
                          </a:solidFill>
                          <a:latin typeface="Times New Roman" panose="02020603050405020304" pitchFamily="18" charset="0"/>
                          <a:ea typeface="+mn-ea"/>
                          <a:cs typeface="Times New Roman" panose="02020603050405020304" pitchFamily="18" charset="0"/>
                        </a:rPr>
                        <a:t> </a:t>
                      </a:r>
                      <a:r>
                        <a:rPr lang="en-IN" sz="1800" b="0" kern="1200" dirty="0" err="1">
                          <a:solidFill>
                            <a:schemeClr val="tx1"/>
                          </a:solidFill>
                          <a:latin typeface="Times New Roman" panose="02020603050405020304" pitchFamily="18" charset="0"/>
                          <a:ea typeface="+mn-ea"/>
                          <a:cs typeface="Times New Roman" panose="02020603050405020304" pitchFamily="18" charset="0"/>
                        </a:rPr>
                        <a:t>Thüring</a:t>
                      </a:r>
                      <a:r>
                        <a:rPr lang="en-IN" sz="1800" b="0" kern="1200" dirty="0">
                          <a:solidFill>
                            <a:schemeClr val="tx1"/>
                          </a:solidFill>
                          <a:latin typeface="Times New Roman" panose="02020603050405020304" pitchFamily="18" charset="0"/>
                          <a:ea typeface="+mn-ea"/>
                          <a:cs typeface="Times New Roman" panose="02020603050405020304" pitchFamily="18" charset="0"/>
                        </a:rPr>
                        <a:t> Daniel </a:t>
                      </a:r>
                      <a:r>
                        <a:rPr lang="en-IN" sz="1800" b="0" kern="1200" dirty="0" err="1">
                          <a:solidFill>
                            <a:schemeClr val="tx1"/>
                          </a:solidFill>
                          <a:latin typeface="Times New Roman" panose="02020603050405020304" pitchFamily="18" charset="0"/>
                          <a:ea typeface="+mn-ea"/>
                          <a:cs typeface="Times New Roman" panose="02020603050405020304" pitchFamily="18" charset="0"/>
                        </a:rPr>
                        <a:t>Kölle</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56% of companies use manual lead scoring.</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Observational study on automation maturity.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ML-based solutions implemented.</a:t>
                      </a:r>
                    </a:p>
                  </a:txBody>
                  <a:tcPr/>
                </a:tc>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Survey-only without technical solutions. No ML implementation or validation</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800760055"/>
                  </a:ext>
                </a:extLst>
              </a:tr>
              <a:tr h="1013674">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Next-Gen CRM Sales and Lead Generation with AI</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2023</a:t>
                      </a: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Anitha </a:t>
                      </a:r>
                      <a:r>
                        <a:rPr lang="en-IN" sz="1800" b="0" kern="1200" dirty="0" err="1">
                          <a:solidFill>
                            <a:schemeClr val="tx1"/>
                          </a:solidFill>
                          <a:latin typeface="Times New Roman" panose="02020603050405020304" pitchFamily="18" charset="0"/>
                          <a:ea typeface="+mn-ea"/>
                          <a:cs typeface="Times New Roman" panose="02020603050405020304" pitchFamily="18" charset="0"/>
                        </a:rPr>
                        <a:t>Peddireddy</a:t>
                      </a:r>
                      <a:r>
                        <a:rPr lang="en-IN" sz="1800" b="0" kern="1200" dirty="0">
                          <a:solidFill>
                            <a:schemeClr val="tx1"/>
                          </a:solidFill>
                          <a:latin typeface="Times New Roman" panose="02020603050405020304" pitchFamily="18" charset="0"/>
                          <a:ea typeface="+mn-ea"/>
                          <a:cs typeface="Times New Roman" panose="02020603050405020304" pitchFamily="18" charset="0"/>
                        </a:rPr>
                        <a:t>, Kiran </a:t>
                      </a:r>
                      <a:r>
                        <a:rPr lang="en-IN" sz="1800" b="0" kern="1200" dirty="0" err="1">
                          <a:solidFill>
                            <a:schemeClr val="tx1"/>
                          </a:solidFill>
                          <a:latin typeface="Times New Roman" panose="02020603050405020304" pitchFamily="18" charset="0"/>
                          <a:ea typeface="+mn-ea"/>
                          <a:cs typeface="Times New Roman" panose="02020603050405020304" pitchFamily="18" charset="0"/>
                        </a:rPr>
                        <a:t>Peddireddy</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NLP and predictive analytics.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overall CRM functionality.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Lacks real estate domain specificity.</a:t>
                      </a:r>
                    </a:p>
                  </a:txBody>
                  <a:tcPr/>
                </a:tc>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Theoretical approach without deployment validation. Missing performance metrics and scalability analysis</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61725327"/>
                  </a:ext>
                </a:extLst>
              </a:tr>
            </a:tbl>
          </a:graphicData>
        </a:graphic>
      </p:graphicFrame>
    </p:spTree>
    <p:extLst>
      <p:ext uri="{BB962C8B-B14F-4D97-AF65-F5344CB8AC3E}">
        <p14:creationId xmlns:p14="http://schemas.microsoft.com/office/powerpoint/2010/main" val="2186627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6BE10-B377-8A5B-5FF9-5C9C884B2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641A5-A728-21D9-CFA3-7B70CC5254E8}"/>
              </a:ext>
            </a:extLst>
          </p:cNvPr>
          <p:cNvSpPr>
            <a:spLocks noGrp="1"/>
          </p:cNvSpPr>
          <p:nvPr>
            <p:ph type="title"/>
          </p:nvPr>
        </p:nvSpPr>
        <p:spPr>
          <a:xfrm>
            <a:off x="1218247" y="201478"/>
            <a:ext cx="8596668" cy="1131376"/>
          </a:xfrm>
        </p:spPr>
        <p:txBody>
          <a:bodyPr>
            <a:normAutofit fontScale="90000"/>
          </a:bodyPr>
          <a:lstStyle/>
          <a:p>
            <a:pPr algn="ctr"/>
            <a:r>
              <a:rPr lang="en-US" sz="4400" b="1" dirty="0">
                <a:solidFill>
                  <a:schemeClr val="tx1"/>
                </a:solidFill>
                <a:latin typeface="Times New Roman" panose="02020603050405020304" pitchFamily="18" charset="0"/>
                <a:cs typeface="Times New Roman" panose="02020603050405020304" pitchFamily="18" charset="0"/>
              </a:rPr>
              <a:t>Literature Survey of Existing System</a:t>
            </a:r>
          </a:p>
        </p:txBody>
      </p:sp>
      <p:graphicFrame>
        <p:nvGraphicFramePr>
          <p:cNvPr id="9" name="Table 8">
            <a:extLst>
              <a:ext uri="{FF2B5EF4-FFF2-40B4-BE49-F238E27FC236}">
                <a16:creationId xmlns:a16="http://schemas.microsoft.com/office/drawing/2014/main" id="{EDC40830-9654-5D7A-3582-61F9C2DD797E}"/>
              </a:ext>
            </a:extLst>
          </p:cNvPr>
          <p:cNvGraphicFramePr>
            <a:graphicFrameLocks noGrp="1"/>
          </p:cNvGraphicFramePr>
          <p:nvPr>
            <p:extLst>
              <p:ext uri="{D42A27DB-BD31-4B8C-83A1-F6EECF244321}">
                <p14:modId xmlns:p14="http://schemas.microsoft.com/office/powerpoint/2010/main" val="3304754686"/>
              </p:ext>
            </p:extLst>
          </p:nvPr>
        </p:nvGraphicFramePr>
        <p:xfrm>
          <a:off x="403412" y="973355"/>
          <a:ext cx="11403106" cy="6516423"/>
        </p:xfrm>
        <a:graphic>
          <a:graphicData uri="http://schemas.openxmlformats.org/drawingml/2006/table">
            <a:tbl>
              <a:tblPr firstRow="1" bandRow="1">
                <a:tableStyleId>{5C22544A-7EE6-4342-B048-85BDC9FD1C3A}</a:tableStyleId>
              </a:tblPr>
              <a:tblGrid>
                <a:gridCol w="2214282">
                  <a:extLst>
                    <a:ext uri="{9D8B030D-6E8A-4147-A177-3AD203B41FA5}">
                      <a16:colId xmlns:a16="http://schemas.microsoft.com/office/drawing/2014/main" val="2486226202"/>
                    </a:ext>
                  </a:extLst>
                </a:gridCol>
                <a:gridCol w="762000">
                  <a:extLst>
                    <a:ext uri="{9D8B030D-6E8A-4147-A177-3AD203B41FA5}">
                      <a16:colId xmlns:a16="http://schemas.microsoft.com/office/drawing/2014/main" val="204117708"/>
                    </a:ext>
                  </a:extLst>
                </a:gridCol>
                <a:gridCol w="1873624">
                  <a:extLst>
                    <a:ext uri="{9D8B030D-6E8A-4147-A177-3AD203B41FA5}">
                      <a16:colId xmlns:a16="http://schemas.microsoft.com/office/drawing/2014/main" val="3331639783"/>
                    </a:ext>
                  </a:extLst>
                </a:gridCol>
                <a:gridCol w="3890682">
                  <a:extLst>
                    <a:ext uri="{9D8B030D-6E8A-4147-A177-3AD203B41FA5}">
                      <a16:colId xmlns:a16="http://schemas.microsoft.com/office/drawing/2014/main" val="393104671"/>
                    </a:ext>
                  </a:extLst>
                </a:gridCol>
                <a:gridCol w="2662518">
                  <a:extLst>
                    <a:ext uri="{9D8B030D-6E8A-4147-A177-3AD203B41FA5}">
                      <a16:colId xmlns:a16="http://schemas.microsoft.com/office/drawing/2014/main" val="598000039"/>
                    </a:ext>
                  </a:extLst>
                </a:gridCol>
              </a:tblGrid>
              <a:tr h="52375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Ti</a:t>
                      </a:r>
                      <a:r>
                        <a:rPr lang="en-IN" sz="1800" b="1" kern="1200" dirty="0">
                          <a:solidFill>
                            <a:schemeClr val="lt1"/>
                          </a:solidFill>
                          <a:latin typeface="Times New Roman" panose="02020603050405020304" pitchFamily="18" charset="0"/>
                          <a:ea typeface="+mn-ea"/>
                          <a:cs typeface="Times New Roman" panose="02020603050405020304" pitchFamily="18" charset="0"/>
                        </a:rPr>
                        <a:t>tl</a:t>
                      </a:r>
                      <a:r>
                        <a:rPr lang="en-IN" sz="1800" dirty="0">
                          <a:latin typeface="Times New Roman" panose="02020603050405020304" pitchFamily="18" charset="0"/>
                          <a:cs typeface="Times New Roman" panose="02020603050405020304" pitchFamily="18" charset="0"/>
                        </a:rPr>
                        <a:t>e</a:t>
                      </a:r>
                      <a:endParaRPr lang="en-IN" dirty="0"/>
                    </a:p>
                  </a:txBody>
                  <a:tcPr/>
                </a:tc>
                <a:tc>
                  <a:txBody>
                    <a:bodyPr/>
                    <a:lstStyle/>
                    <a:p>
                      <a:r>
                        <a:rPr lang="en-IN" sz="1800" b="1" kern="1200" dirty="0">
                          <a:solidFill>
                            <a:schemeClr val="lt1"/>
                          </a:solidFill>
                          <a:latin typeface="Times New Roman" panose="02020603050405020304" pitchFamily="18" charset="0"/>
                          <a:ea typeface="+mn-ea"/>
                          <a:cs typeface="Times New Roman" panose="02020603050405020304" pitchFamily="18" charset="0"/>
                        </a:rPr>
                        <a:t>Year</a:t>
                      </a:r>
                    </a:p>
                  </a:txBody>
                  <a:tcPr/>
                </a:tc>
                <a:tc>
                  <a:txBody>
                    <a:bodyPr/>
                    <a:lstStyle/>
                    <a:p>
                      <a:r>
                        <a:rPr lang="en-IN" sz="1800" dirty="0">
                          <a:latin typeface="Times New Roman" panose="02020603050405020304" pitchFamily="18" charset="0"/>
                          <a:cs typeface="Times New Roman" panose="02020603050405020304" pitchFamily="18" charset="0"/>
                        </a:rPr>
                        <a:t>Author</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Description</a:t>
                      </a:r>
                      <a:endParaRPr lang="en-IN" dirty="0"/>
                    </a:p>
                  </a:txBody>
                  <a:tcPr/>
                </a:tc>
                <a:tc>
                  <a:txBody>
                    <a:bodyPr/>
                    <a:lstStyle/>
                    <a:p>
                      <a:r>
                        <a:rPr lang="en-IN" sz="1800" dirty="0">
                          <a:latin typeface="Times New Roman" panose="02020603050405020304" pitchFamily="18" charset="0"/>
                          <a:cs typeface="Times New Roman" panose="02020603050405020304" pitchFamily="18" charset="0"/>
                        </a:rPr>
                        <a:t>Limitation</a:t>
                      </a:r>
                      <a:endParaRPr lang="en-IN" dirty="0"/>
                    </a:p>
                  </a:txBody>
                  <a:tcPr/>
                </a:tc>
                <a:extLst>
                  <a:ext uri="{0D108BD9-81ED-4DB2-BD59-A6C34878D82A}">
                    <a16:rowId xmlns:a16="http://schemas.microsoft.com/office/drawing/2014/main" val="1621165003"/>
                  </a:ext>
                </a:extLst>
              </a:tr>
              <a:tr h="1329232">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IN" sz="1800" b="0" kern="1200" dirty="0">
                          <a:solidFill>
                            <a:schemeClr val="tx1"/>
                          </a:solidFill>
                          <a:latin typeface="Times New Roman" panose="02020603050405020304" pitchFamily="18" charset="0"/>
                          <a:ea typeface="+mn-ea"/>
                          <a:cs typeface="Times New Roman" panose="02020603050405020304" pitchFamily="18" charset="0"/>
                        </a:rPr>
                        <a:t>AI-Driven Social Media Analytics for eCommerce Advertising</a:t>
                      </a: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2023</a:t>
                      </a: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Abeer Mohamed</a:t>
                      </a:r>
                    </a:p>
                  </a:txBody>
                  <a:tcPr/>
                </a:tc>
                <a:tc>
                  <a:txBody>
                    <a:bodyPr/>
                    <a:lstStyle/>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Applied to e-commerce platforms.</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Boosts user engagement rates.</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Not tailored for real estate domain.</a:t>
                      </a:r>
                    </a:p>
                  </a:txBody>
                  <a:tcPr/>
                </a:tc>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Platform-specific without domain adaptation. No B2B integration or ROI analysis</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722818037"/>
                  </a:ext>
                </a:extLst>
              </a:tr>
              <a:tr h="1013674">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Times New Roman" panose="02020603050405020304" pitchFamily="18" charset="0"/>
                          <a:ea typeface="+mn-ea"/>
                          <a:cs typeface="Times New Roman" panose="02020603050405020304" pitchFamily="18" charset="0"/>
                        </a:rPr>
                        <a:t>Exploring The Impact of Chatbots on Consumer Sentiment in Retail</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2021</a:t>
                      </a:r>
                    </a:p>
                  </a:txBody>
                  <a:tcPr/>
                </a:tc>
                <a:tc>
                  <a:txBody>
                    <a:bodyPr/>
                    <a:lstStyle/>
                    <a:p>
                      <a:r>
                        <a:rPr lang="sv-SE" sz="1800" b="0" kern="1200" dirty="0">
                          <a:solidFill>
                            <a:schemeClr val="tx1"/>
                          </a:solidFill>
                          <a:latin typeface="Times New Roman" panose="02020603050405020304" pitchFamily="18" charset="0"/>
                          <a:ea typeface="+mn-ea"/>
                          <a:cs typeface="Times New Roman" panose="02020603050405020304" pitchFamily="18" charset="0"/>
                        </a:rPr>
                        <a:t>Anh D. Tran ,  Jason I. Pallant , Lester W. Johnson</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Enhances customer engagement in retail.</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Based on Technology Acceptance Model (TAM).</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Lacks B2B and real estate applications.</a:t>
                      </a:r>
                    </a:p>
                  </a:txBody>
                  <a:tcPr/>
                </a:tc>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Retail-only scope without B2B applications. No conversion or business impact metrics</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800760055"/>
                  </a:ext>
                </a:extLst>
              </a:tr>
              <a:tr h="1013674">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Augmenting Customer Support with an NLP-based Receptionist</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2021</a:t>
                      </a: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André Barbosa, Alan Godoy</a:t>
                      </a:r>
                    </a:p>
                  </a:txBody>
                  <a:tcPr/>
                </a:tc>
                <a:tc>
                  <a: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Portuguese NLP model with 85% accuracy.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Achieves human-level support performance.</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Limited to customer support, not lead generation.</a:t>
                      </a:r>
                    </a:p>
                  </a:txBody>
                  <a:tcPr/>
                </a:tc>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Support-only without lead generation. Language-specific limitations. Small unbalanced dataset</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61725327"/>
                  </a:ext>
                </a:extLst>
              </a:tr>
              <a:tr h="1013674">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Language Models are Few-Shot Learners (GPT-3)</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2020</a:t>
                      </a:r>
                    </a:p>
                  </a:txBody>
                  <a:tcPr/>
                </a:tc>
                <a:tc>
                  <a:txBody>
                    <a:bodyPr/>
                    <a:lstStyle/>
                    <a:p>
                      <a:r>
                        <a:rPr lang="en-IN" sz="1800" b="0" kern="1200" dirty="0">
                          <a:solidFill>
                            <a:schemeClr val="tx1"/>
                          </a:solidFill>
                          <a:latin typeface="Times New Roman" panose="02020603050405020304" pitchFamily="18" charset="0"/>
                          <a:ea typeface="+mn-ea"/>
                          <a:cs typeface="Times New Roman" panose="02020603050405020304" pitchFamily="18" charset="0"/>
                        </a:rPr>
                        <a:t>Tom B. Brown, Benjamin Mann, Nick Ryder, Melanie Subbiah, Prafulla </a:t>
                      </a:r>
                      <a:r>
                        <a:rPr lang="en-IN" sz="1800" b="0" kern="1200" dirty="0" err="1">
                          <a:solidFill>
                            <a:schemeClr val="tx1"/>
                          </a:solidFill>
                          <a:latin typeface="Times New Roman" panose="02020603050405020304" pitchFamily="18" charset="0"/>
                          <a:ea typeface="+mn-ea"/>
                          <a:cs typeface="Times New Roman" panose="02020603050405020304" pitchFamily="18" charset="0"/>
                        </a:rPr>
                        <a:t>Dhariwal</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Handles diverse general NLP tasks.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Delivers human-level language performance.</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Not optimized for CRM applications.</a:t>
                      </a:r>
                    </a:p>
                  </a:txBody>
                  <a:tcPr/>
                </a:tc>
                <a:tc>
                  <a:txBody>
                    <a:bodyPr/>
                    <a:lstStyle/>
                    <a:p>
                      <a:pPr algn="just"/>
                      <a:r>
                        <a:rPr lang="en-US" sz="1800" b="0" kern="1200" dirty="0">
                          <a:solidFill>
                            <a:schemeClr val="tx1"/>
                          </a:solidFill>
                          <a:latin typeface="Times New Roman" panose="02020603050405020304" pitchFamily="18" charset="0"/>
                          <a:ea typeface="+mn-ea"/>
                          <a:cs typeface="Times New Roman" panose="02020603050405020304" pitchFamily="18" charset="0"/>
                        </a:rPr>
                        <a:t>General-purpose without CRM optimization. No domain-specific tuning or sales workflow integration</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440461694"/>
                  </a:ext>
                </a:extLst>
              </a:tr>
            </a:tbl>
          </a:graphicData>
        </a:graphic>
      </p:graphicFrame>
    </p:spTree>
    <p:extLst>
      <p:ext uri="{BB962C8B-B14F-4D97-AF65-F5344CB8AC3E}">
        <p14:creationId xmlns:p14="http://schemas.microsoft.com/office/powerpoint/2010/main" val="3854142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B4D43-4165-477C-CC98-72FDE5A91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FB7F9B-45AC-23ED-8FAA-71DFFCDC6365}"/>
              </a:ext>
            </a:extLst>
          </p:cNvPr>
          <p:cNvSpPr>
            <a:spLocks noGrp="1"/>
          </p:cNvSpPr>
          <p:nvPr>
            <p:ph type="title"/>
          </p:nvPr>
        </p:nvSpPr>
        <p:spPr>
          <a:xfrm>
            <a:off x="1218247" y="201478"/>
            <a:ext cx="8596668" cy="1131376"/>
          </a:xfrm>
        </p:spPr>
        <p:txBody>
          <a:bodyP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Limitations of Existing System</a:t>
            </a:r>
          </a:p>
        </p:txBody>
      </p:sp>
      <p:sp>
        <p:nvSpPr>
          <p:cNvPr id="17" name="Rectangle 14">
            <a:extLst>
              <a:ext uri="{FF2B5EF4-FFF2-40B4-BE49-F238E27FC236}">
                <a16:creationId xmlns:a16="http://schemas.microsoft.com/office/drawing/2014/main" id="{5DC1F6F6-72A8-53CF-F4F0-995B7248778D}"/>
              </a:ext>
            </a:extLst>
          </p:cNvPr>
          <p:cNvSpPr>
            <a:spLocks noGrp="1" noChangeArrowheads="1"/>
          </p:cNvSpPr>
          <p:nvPr>
            <p:ph idx="1"/>
          </p:nvPr>
        </p:nvSpPr>
        <p:spPr bwMode="auto">
          <a:xfrm>
            <a:off x="599052" y="1713145"/>
            <a:ext cx="9215863"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just">
              <a:buFont typeface="Wingdings" panose="05000000000000000000" pitchFamily="2" charset="2"/>
              <a:buChar char="Ø"/>
              <a:defRPr/>
            </a:pPr>
            <a:r>
              <a:rPr lang="en-US" sz="2400" dirty="0">
                <a:solidFill>
                  <a:srgbClr val="000000"/>
                </a:solidFill>
                <a:latin typeface="Times New Roman" panose="02020603050405020304" pitchFamily="18" charset="0"/>
              </a:rPr>
              <a:t>Current lead-generation relies on manual research and generic campaigns that are slow and hard to scale.</a:t>
            </a:r>
          </a:p>
          <a:p>
            <a:pPr marL="457200" indent="-457200" algn="just">
              <a:buFont typeface="Wingdings" panose="05000000000000000000" pitchFamily="2" charset="2"/>
              <a:buChar char="Ø"/>
              <a:defRPr/>
            </a:pPr>
            <a:r>
              <a:rPr lang="en-US" sz="2400" dirty="0">
                <a:solidFill>
                  <a:srgbClr val="000000"/>
                </a:solidFill>
                <a:latin typeface="Times New Roman" panose="02020603050405020304" pitchFamily="18" charset="0"/>
              </a:rPr>
              <a:t>Static website lacks personalization, conversion optimization, and 24/7 automated engagement capabilities.</a:t>
            </a:r>
          </a:p>
          <a:p>
            <a:pPr marL="457200" indent="-457200" algn="just">
              <a:buFont typeface="Wingdings" panose="05000000000000000000" pitchFamily="2" charset="2"/>
              <a:buChar char="Ø"/>
              <a:defRPr/>
            </a:pPr>
            <a:r>
              <a:rPr lang="en-US" sz="2400" dirty="0">
                <a:solidFill>
                  <a:srgbClr val="000000"/>
                </a:solidFill>
                <a:latin typeface="Times New Roman" panose="02020603050405020304" pitchFamily="18" charset="0"/>
              </a:rPr>
              <a:t>No real-time chatbot leads to delayed inquiries and sales team lacks prospect intelligence.</a:t>
            </a:r>
          </a:p>
          <a:p>
            <a:pPr marL="457200" indent="-457200" algn="just">
              <a:buFont typeface="Wingdings" panose="05000000000000000000" pitchFamily="2" charset="2"/>
              <a:buChar char="Ø"/>
              <a:defRPr/>
            </a:pPr>
            <a:r>
              <a:rPr lang="en-US" sz="2400" dirty="0">
                <a:solidFill>
                  <a:srgbClr val="000000"/>
                </a:solidFill>
                <a:latin typeface="Times New Roman" panose="02020603050405020304" pitchFamily="18" charset="0"/>
              </a:rPr>
              <a:t>Manual processes, low conversions, and slow follow-up fail to meet growth targets, requiring automated solutions.</a:t>
            </a:r>
          </a:p>
        </p:txBody>
      </p:sp>
    </p:spTree>
    <p:extLst>
      <p:ext uri="{BB962C8B-B14F-4D97-AF65-F5344CB8AC3E}">
        <p14:creationId xmlns:p14="http://schemas.microsoft.com/office/powerpoint/2010/main" val="3894769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9334" y="221673"/>
            <a:ext cx="8596668" cy="1320800"/>
          </a:xfrm>
        </p:spPr>
        <p:txBody>
          <a:bodyP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510988" y="1346473"/>
            <a:ext cx="10040471" cy="4414040"/>
          </a:xfrm>
        </p:spPr>
        <p:txBody>
          <a:bodyPr>
            <a:normAutofit/>
          </a:bodyPr>
          <a:lstStyle/>
          <a:p>
            <a:pPr algn="just"/>
            <a:r>
              <a:rPr lang="en-US" sz="2400" dirty="0">
                <a:solidFill>
                  <a:schemeClr val="tx1"/>
                </a:solidFill>
                <a:latin typeface="Times New Roman" panose="02020603050405020304" pitchFamily="18" charset="0"/>
                <a:cs typeface="Times New Roman" panose="02020603050405020304" pitchFamily="18" charset="0"/>
              </a:rPr>
              <a:t>GSBG is facing challenges in generating and converting leads for its Salesforce services in the real estate and related sectors. The main reason for this issue is the heavy reliance on manual client acquisition methods, which are time-consuming, require significant effort, and are difficult to scale. These limitations reduce the ability to identify and engage potential clients effectively, leading to lower conversion rates. Hence, there is a need for an automated and data-driven lead generation system that can streamline acquisition processes, improve targeting accuracy, and increase overall conversion efficiency.</a:t>
            </a:r>
          </a:p>
        </p:txBody>
      </p:sp>
    </p:spTree>
    <p:extLst>
      <p:ext uri="{BB962C8B-B14F-4D97-AF65-F5344CB8AC3E}">
        <p14:creationId xmlns:p14="http://schemas.microsoft.com/office/powerpoint/2010/main" val="1903643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CE0A4-D7FF-6C7A-B2B1-37F7F0B16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FF28F-DEAA-97E3-3718-44B01EB36A71}"/>
              </a:ext>
            </a:extLst>
          </p:cNvPr>
          <p:cNvSpPr>
            <a:spLocks noGrp="1"/>
          </p:cNvSpPr>
          <p:nvPr>
            <p:ph type="title"/>
          </p:nvPr>
        </p:nvSpPr>
        <p:spPr>
          <a:xfrm>
            <a:off x="1439334" y="221673"/>
            <a:ext cx="8596668" cy="1320800"/>
          </a:xfrm>
        </p:spPr>
        <p:txBody>
          <a:bodyP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System Design</a:t>
            </a:r>
          </a:p>
        </p:txBody>
      </p:sp>
      <p:pic>
        <p:nvPicPr>
          <p:cNvPr id="6" name="Content Placeholder 5">
            <a:extLst>
              <a:ext uri="{FF2B5EF4-FFF2-40B4-BE49-F238E27FC236}">
                <a16:creationId xmlns:a16="http://schemas.microsoft.com/office/drawing/2014/main" id="{2D07BA98-CF02-589C-B720-B7EA8C8C5D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6557" y="1335835"/>
            <a:ext cx="7480548" cy="4985085"/>
          </a:xfrm>
        </p:spPr>
      </p:pic>
    </p:spTree>
    <p:extLst>
      <p:ext uri="{BB962C8B-B14F-4D97-AF65-F5344CB8AC3E}">
        <p14:creationId xmlns:p14="http://schemas.microsoft.com/office/powerpoint/2010/main" val="1939771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FCCA1-06EA-4281-893B-F851E545D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C3B62-2C9E-45CB-8604-A1A264E3C50D}"/>
              </a:ext>
            </a:extLst>
          </p:cNvPr>
          <p:cNvSpPr>
            <a:spLocks noGrp="1"/>
          </p:cNvSpPr>
          <p:nvPr>
            <p:ph type="title"/>
          </p:nvPr>
        </p:nvSpPr>
        <p:spPr>
          <a:xfrm>
            <a:off x="1439334" y="221673"/>
            <a:ext cx="8596668" cy="1320800"/>
          </a:xfrm>
        </p:spPr>
        <p:txBody>
          <a:bodyP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System Design</a:t>
            </a:r>
          </a:p>
        </p:txBody>
      </p:sp>
      <p:sp>
        <p:nvSpPr>
          <p:cNvPr id="3" name="Content Placeholder 2">
            <a:extLst>
              <a:ext uri="{FF2B5EF4-FFF2-40B4-BE49-F238E27FC236}">
                <a16:creationId xmlns:a16="http://schemas.microsoft.com/office/drawing/2014/main" id="{D141DA0C-F4F5-C1CE-5095-AD4EAB7A2D17}"/>
              </a:ext>
            </a:extLst>
          </p:cNvPr>
          <p:cNvSpPr>
            <a:spLocks noGrp="1"/>
          </p:cNvSpPr>
          <p:nvPr>
            <p:ph idx="1"/>
          </p:nvPr>
        </p:nvSpPr>
        <p:spPr>
          <a:xfrm>
            <a:off x="832391" y="1346473"/>
            <a:ext cx="8596668" cy="4414040"/>
          </a:xfrm>
        </p:spPr>
        <p:txBody>
          <a:bodyPr>
            <a:normAutofit/>
          </a:bodyPr>
          <a:lstStyle/>
          <a:p>
            <a:pPr>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Frontend </a:t>
            </a:r>
          </a:p>
          <a:p>
            <a:pPr lvl="1" algn="just">
              <a:buFont typeface="Courier New" panose="02070309020205020404" pitchFamily="49" charset="0"/>
              <a:buChar char="o"/>
            </a:pPr>
            <a:r>
              <a:rPr lang="en-US" sz="2400" dirty="0">
                <a:solidFill>
                  <a:schemeClr val="tx1"/>
                </a:solidFill>
                <a:latin typeface="Times New Roman" panose="02020603050405020304" pitchFamily="18" charset="0"/>
                <a:cs typeface="Times New Roman" panose="02020603050405020304" pitchFamily="18" charset="0"/>
              </a:rPr>
              <a:t>Provides server-side rendering (SSR) and static site generation (SSG) for fast load times and SEO optimization</a:t>
            </a:r>
          </a:p>
          <a:p>
            <a:pPr lvl="1" algn="just">
              <a:buFont typeface="Courier New" panose="02070309020205020404" pitchFamily="49" charset="0"/>
              <a:buChar char="o"/>
            </a:pPr>
            <a:r>
              <a:rPr lang="en-US" sz="2400" dirty="0">
                <a:solidFill>
                  <a:schemeClr val="tx1"/>
                </a:solidFill>
                <a:latin typeface="Times New Roman" panose="02020603050405020304" pitchFamily="18" charset="0"/>
                <a:cs typeface="Times New Roman" panose="02020603050405020304" pitchFamily="18" charset="0"/>
              </a:rPr>
              <a:t>Powers 3D animations and hover effects, creating a modern, interactive user experience.</a:t>
            </a:r>
            <a:endParaRPr lang="en-IN" altLang="en-US" sz="24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600" dirty="0">
                <a:solidFill>
                  <a:schemeClr val="tx1"/>
                </a:solidFill>
                <a:latin typeface="Times New Roman" panose="02020603050405020304" pitchFamily="18" charset="0"/>
                <a:cs typeface="Times New Roman" panose="02020603050405020304" pitchFamily="18" charset="0"/>
              </a:rPr>
              <a:t>Backend </a:t>
            </a:r>
          </a:p>
          <a:p>
            <a:pPr lvl="1" algn="just">
              <a:buFont typeface="Courier New" panose="02070309020205020404" pitchFamily="49" charset="0"/>
              <a:buChar char="o"/>
            </a:pPr>
            <a:r>
              <a:rPr lang="en-US" sz="2400" dirty="0">
                <a:solidFill>
                  <a:schemeClr val="tx1"/>
                </a:solidFill>
                <a:latin typeface="Times New Roman" panose="02020603050405020304" pitchFamily="18" charset="0"/>
                <a:cs typeface="Times New Roman" panose="02020603050405020304" pitchFamily="18" charset="0"/>
              </a:rPr>
              <a:t>Handles API routing, user session management, and communication with AI services.</a:t>
            </a:r>
          </a:p>
          <a:p>
            <a:pPr lvl="1" algn="just">
              <a:buFont typeface="Courier New" panose="02070309020205020404" pitchFamily="49" charset="0"/>
              <a:buChar char="o"/>
            </a:pPr>
            <a:r>
              <a:rPr lang="en-US" sz="2400" dirty="0">
                <a:solidFill>
                  <a:schemeClr val="tx1"/>
                </a:solidFill>
                <a:latin typeface="Times New Roman" panose="02020603050405020304" pitchFamily="18" charset="0"/>
                <a:cs typeface="Times New Roman" panose="02020603050405020304" pitchFamily="18" charset="0"/>
              </a:rPr>
              <a:t>Orchestrates requests between frontend, chatbot, and database.</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2773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6D18F-3950-00F8-3DCF-3B4611DC2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F87634-886F-F77F-00F0-8610F6431BE0}"/>
              </a:ext>
            </a:extLst>
          </p:cNvPr>
          <p:cNvSpPr>
            <a:spLocks noGrp="1"/>
          </p:cNvSpPr>
          <p:nvPr>
            <p:ph type="title"/>
          </p:nvPr>
        </p:nvSpPr>
        <p:spPr>
          <a:xfrm>
            <a:off x="1439334" y="221673"/>
            <a:ext cx="8596668" cy="1320800"/>
          </a:xfrm>
        </p:spPr>
        <p:txBody>
          <a:bodyP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System Design</a:t>
            </a:r>
          </a:p>
        </p:txBody>
      </p:sp>
      <p:sp>
        <p:nvSpPr>
          <p:cNvPr id="3" name="Content Placeholder 2">
            <a:extLst>
              <a:ext uri="{FF2B5EF4-FFF2-40B4-BE49-F238E27FC236}">
                <a16:creationId xmlns:a16="http://schemas.microsoft.com/office/drawing/2014/main" id="{5592ACAC-80B1-51BF-4F68-F499DEA382C2}"/>
              </a:ext>
            </a:extLst>
          </p:cNvPr>
          <p:cNvSpPr>
            <a:spLocks noGrp="1"/>
          </p:cNvSpPr>
          <p:nvPr>
            <p:ph idx="1"/>
          </p:nvPr>
        </p:nvSpPr>
        <p:spPr>
          <a:xfrm>
            <a:off x="832391" y="1346473"/>
            <a:ext cx="8596668" cy="4414040"/>
          </a:xfrm>
        </p:spPr>
        <p:txBody>
          <a:bodyPr>
            <a:normAutofit fontScale="92500" lnSpcReduction="20000"/>
          </a:bodyPr>
          <a:lstStyle/>
          <a:p>
            <a:pPr>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Chatbot + Messaging </a:t>
            </a:r>
          </a:p>
          <a:p>
            <a:pPr lvl="1" algn="just">
              <a:buFont typeface="Courier New" panose="02070309020205020404" pitchFamily="49" charset="0"/>
              <a:buChar char="o"/>
            </a:pPr>
            <a:r>
              <a:rPr lang="en-IN" sz="2600" dirty="0">
                <a:solidFill>
                  <a:schemeClr val="tx1"/>
                </a:solidFill>
                <a:latin typeface="Times New Roman" panose="02020603050405020304" pitchFamily="18" charset="0"/>
                <a:cs typeface="Times New Roman" panose="02020603050405020304" pitchFamily="18" charset="0"/>
              </a:rPr>
              <a:t>Python service handles chatbot conversations.</a:t>
            </a:r>
          </a:p>
          <a:p>
            <a:pPr lvl="1" algn="just">
              <a:buFont typeface="Courier New" panose="02070309020205020404" pitchFamily="49" charset="0"/>
              <a:buChar char="o"/>
            </a:pPr>
            <a:r>
              <a:rPr lang="en-US" sz="2600" dirty="0">
                <a:solidFill>
                  <a:schemeClr val="tx1"/>
                </a:solidFill>
                <a:latin typeface="Times New Roman" panose="02020603050405020304" pitchFamily="18" charset="0"/>
                <a:cs typeface="Times New Roman" panose="02020603050405020304" pitchFamily="18" charset="0"/>
              </a:rPr>
              <a:t>Messages are refined through Predefined rules and AI model for professional, grammatically correct responses .</a:t>
            </a:r>
            <a:endParaRPr lang="en-IN" sz="2600" dirty="0">
              <a:solidFill>
                <a:schemeClr val="tx1"/>
              </a:solidFill>
              <a:latin typeface="Times New Roman" panose="02020603050405020304" pitchFamily="18" charset="0"/>
              <a:cs typeface="Times New Roman" panose="02020603050405020304" pitchFamily="18" charset="0"/>
            </a:endParaRPr>
          </a:p>
          <a:p>
            <a:pPr lvl="1" algn="just">
              <a:buFont typeface="Courier New" panose="02070309020205020404" pitchFamily="49" charset="0"/>
              <a:buChar char="o"/>
            </a:pPr>
            <a:r>
              <a:rPr lang="en-US" sz="2600" dirty="0">
                <a:solidFill>
                  <a:schemeClr val="tx1"/>
                </a:solidFill>
                <a:latin typeface="Times New Roman" panose="02020603050405020304" pitchFamily="18" charset="0"/>
                <a:cs typeface="Times New Roman" panose="02020603050405020304" pitchFamily="18" charset="0"/>
              </a:rPr>
              <a:t>Logged-in leads can receive direct messages, nurturing them toward conversion.</a:t>
            </a:r>
            <a:endParaRPr lang="en-IN" sz="26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Lead Classification </a:t>
            </a:r>
          </a:p>
          <a:p>
            <a:pPr lvl="1" algn="just">
              <a:buFont typeface="Courier New" panose="02070309020205020404" pitchFamily="49" charset="0"/>
              <a:buChar char="o"/>
            </a:pPr>
            <a:r>
              <a:rPr lang="en-US" sz="2600" dirty="0">
                <a:solidFill>
                  <a:schemeClr val="tx1"/>
                </a:solidFill>
                <a:latin typeface="Times New Roman" panose="02020603050405020304" pitchFamily="18" charset="0"/>
                <a:cs typeface="Times New Roman" panose="02020603050405020304" pitchFamily="18" charset="0"/>
              </a:rPr>
              <a:t>Runs a local LLM (Mistral) via </a:t>
            </a:r>
            <a:r>
              <a:rPr lang="en-US" sz="2600" dirty="0" err="1">
                <a:solidFill>
                  <a:schemeClr val="tx1"/>
                </a:solidFill>
                <a:latin typeface="Times New Roman" panose="02020603050405020304" pitchFamily="18" charset="0"/>
                <a:cs typeface="Times New Roman" panose="02020603050405020304" pitchFamily="18" charset="0"/>
              </a:rPr>
              <a:t>Ollama</a:t>
            </a:r>
            <a:r>
              <a:rPr lang="en-US" sz="2600" dirty="0">
                <a:solidFill>
                  <a:schemeClr val="tx1"/>
                </a:solidFill>
                <a:latin typeface="Times New Roman" panose="02020603050405020304" pitchFamily="18" charset="0"/>
                <a:cs typeface="Times New Roman" panose="02020603050405020304" pitchFamily="18" charset="0"/>
              </a:rPr>
              <a:t> to classify leads as Hot / Warm / Cold. </a:t>
            </a:r>
          </a:p>
          <a:p>
            <a:pPr lvl="1" algn="just">
              <a:buFont typeface="Courier New" panose="02070309020205020404" pitchFamily="49" charset="0"/>
              <a:buChar char="o"/>
            </a:pPr>
            <a:r>
              <a:rPr lang="en-US" sz="2600" dirty="0">
                <a:solidFill>
                  <a:schemeClr val="tx1"/>
                </a:solidFill>
                <a:latin typeface="Times New Roman" panose="02020603050405020304" pitchFamily="18" charset="0"/>
                <a:cs typeface="Times New Roman" panose="02020603050405020304" pitchFamily="18" charset="0"/>
              </a:rPr>
              <a:t>This avoids traditional ML models – instead it’s prompt-based classification. </a:t>
            </a:r>
            <a:endParaRPr lang="en-IN" sz="2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7927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21DDC-2E8C-A693-2876-AC82E8F42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1F3FB-D461-8E27-B257-8DE49C746BB0}"/>
              </a:ext>
            </a:extLst>
          </p:cNvPr>
          <p:cNvSpPr>
            <a:spLocks noGrp="1"/>
          </p:cNvSpPr>
          <p:nvPr>
            <p:ph type="title"/>
          </p:nvPr>
        </p:nvSpPr>
        <p:spPr>
          <a:xfrm>
            <a:off x="1439334" y="221673"/>
            <a:ext cx="8596668" cy="1320800"/>
          </a:xfrm>
        </p:spPr>
        <p:txBody>
          <a:bodyP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System Design</a:t>
            </a:r>
          </a:p>
        </p:txBody>
      </p:sp>
      <p:sp>
        <p:nvSpPr>
          <p:cNvPr id="3" name="Content Placeholder 2">
            <a:extLst>
              <a:ext uri="{FF2B5EF4-FFF2-40B4-BE49-F238E27FC236}">
                <a16:creationId xmlns:a16="http://schemas.microsoft.com/office/drawing/2014/main" id="{B0AF7BBF-FB57-5170-EC9A-06969FCC5FF6}"/>
              </a:ext>
            </a:extLst>
          </p:cNvPr>
          <p:cNvSpPr>
            <a:spLocks noGrp="1"/>
          </p:cNvSpPr>
          <p:nvPr>
            <p:ph idx="1"/>
          </p:nvPr>
        </p:nvSpPr>
        <p:spPr>
          <a:xfrm>
            <a:off x="832391" y="1346473"/>
            <a:ext cx="8596668" cy="4414040"/>
          </a:xfrm>
        </p:spPr>
        <p:txBody>
          <a:bodyPr>
            <a:normAutofit/>
          </a:bodyPr>
          <a:lstStyle/>
          <a:p>
            <a:pPr algn="just">
              <a:buFont typeface="Wingdings" panose="05000000000000000000" pitchFamily="2" charset="2"/>
              <a:buChar char="Ø"/>
            </a:pPr>
            <a:r>
              <a:rPr lang="en-IN" sz="2600" dirty="0">
                <a:solidFill>
                  <a:schemeClr val="tx1"/>
                </a:solidFill>
                <a:latin typeface="Times New Roman" panose="02020603050405020304" pitchFamily="18" charset="0"/>
                <a:cs typeface="Times New Roman" panose="02020603050405020304" pitchFamily="18" charset="0"/>
              </a:rPr>
              <a:t>Database (PostgreSQL)</a:t>
            </a:r>
          </a:p>
          <a:p>
            <a:pPr marL="742950" lvl="2" indent="-342900" algn="just">
              <a:buFont typeface="Courier New" panose="02070309020205020404" pitchFamily="49" charset="0"/>
              <a:buChar char="o"/>
            </a:pPr>
            <a:r>
              <a:rPr lang="en-US" sz="2400" dirty="0">
                <a:solidFill>
                  <a:schemeClr val="tx1"/>
                </a:solidFill>
                <a:latin typeface="Times New Roman" panose="02020603050405020304" pitchFamily="18" charset="0"/>
                <a:cs typeface="Times New Roman" panose="02020603050405020304" pitchFamily="18" charset="0"/>
              </a:rPr>
              <a:t>Stores lead details, chat history, and messaging logs.</a:t>
            </a:r>
            <a:endParaRPr lang="en-IN" sz="2400" dirty="0">
              <a:solidFill>
                <a:schemeClr val="tx1"/>
              </a:solidFill>
              <a:latin typeface="Times New Roman" panose="02020603050405020304" pitchFamily="18" charset="0"/>
              <a:cs typeface="Times New Roman" panose="02020603050405020304" pitchFamily="18" charset="0"/>
            </a:endParaRPr>
          </a:p>
          <a:p>
            <a:pPr marL="742950" lvl="2" indent="-342900" algn="just">
              <a:buFont typeface="Courier New" panose="02070309020205020404" pitchFamily="49" charset="0"/>
              <a:buChar char="o"/>
            </a:pPr>
            <a:r>
              <a:rPr lang="en-US" sz="2400" dirty="0">
                <a:solidFill>
                  <a:schemeClr val="tx1"/>
                </a:solidFill>
                <a:latin typeface="Times New Roman" panose="02020603050405020304" pitchFamily="18" charset="0"/>
                <a:cs typeface="Times New Roman" panose="02020603050405020304" pitchFamily="18" charset="0"/>
              </a:rPr>
              <a:t>Lightweight, reliable, and easy to deploy.</a:t>
            </a:r>
            <a:endParaRPr lang="en-IN" sz="24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600" dirty="0">
                <a:solidFill>
                  <a:schemeClr val="tx1"/>
                </a:solidFill>
                <a:latin typeface="Times New Roman" panose="02020603050405020304" pitchFamily="18" charset="0"/>
                <a:cs typeface="Times New Roman" panose="02020603050405020304" pitchFamily="18" charset="0"/>
              </a:rPr>
              <a:t>Future Integration (</a:t>
            </a:r>
            <a:r>
              <a:rPr lang="en-IN" sz="2600" dirty="0" err="1">
                <a:solidFill>
                  <a:schemeClr val="tx1"/>
                </a:solidFill>
                <a:latin typeface="Times New Roman" panose="02020603050405020304" pitchFamily="18" charset="0"/>
                <a:cs typeface="Times New Roman" panose="02020603050405020304" pitchFamily="18" charset="0"/>
              </a:rPr>
              <a:t>Agentforce</a:t>
            </a:r>
            <a:r>
              <a:rPr lang="en-IN" sz="2600" dirty="0">
                <a:solidFill>
                  <a:schemeClr val="tx1"/>
                </a:solidFill>
                <a:latin typeface="Times New Roman" panose="02020603050405020304" pitchFamily="18" charset="0"/>
                <a:cs typeface="Times New Roman" panose="02020603050405020304" pitchFamily="18" charset="0"/>
              </a:rPr>
              <a:t>)</a:t>
            </a:r>
          </a:p>
          <a:p>
            <a:pPr marL="742950" lvl="2" indent="-342900" algn="just">
              <a:buFont typeface="Courier New" panose="02070309020205020404" pitchFamily="49" charset="0"/>
              <a:buChar char="o"/>
            </a:pPr>
            <a:r>
              <a:rPr lang="en-US" sz="2400" dirty="0">
                <a:solidFill>
                  <a:schemeClr val="tx1"/>
                </a:solidFill>
                <a:latin typeface="Times New Roman" panose="02020603050405020304" pitchFamily="18" charset="0"/>
                <a:cs typeface="Times New Roman" panose="02020603050405020304" pitchFamily="18" charset="0"/>
              </a:rPr>
              <a:t>Salesforce’s </a:t>
            </a:r>
            <a:r>
              <a:rPr lang="en-US" sz="2400" dirty="0" err="1">
                <a:solidFill>
                  <a:schemeClr val="tx1"/>
                </a:solidFill>
                <a:latin typeface="Times New Roman" panose="02020603050405020304" pitchFamily="18" charset="0"/>
                <a:cs typeface="Times New Roman" panose="02020603050405020304" pitchFamily="18" charset="0"/>
              </a:rPr>
              <a:t>Agentforce</a:t>
            </a:r>
            <a:r>
              <a:rPr lang="en-US" sz="2400" dirty="0">
                <a:solidFill>
                  <a:schemeClr val="tx1"/>
                </a:solidFill>
                <a:latin typeface="Times New Roman" panose="02020603050405020304" pitchFamily="18" charset="0"/>
                <a:cs typeface="Times New Roman" panose="02020603050405020304" pitchFamily="18" charset="0"/>
              </a:rPr>
              <a:t> AI will enable automated CRM workflows:</a:t>
            </a:r>
          </a:p>
          <a:p>
            <a:pPr marL="1200150" lvl="3" indent="-342900" algn="just">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Handoff of leads to CRM.</a:t>
            </a:r>
          </a:p>
          <a:p>
            <a:pPr marL="1200150" lvl="3" indent="-342900" algn="just">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Autonomous AI agents scheduling meetings, sending follow-ups, etc.</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2619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7C8E2-CD33-3171-9208-7680B8DBC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717DF-20D7-CD38-6A1D-17748AA9C471}"/>
              </a:ext>
            </a:extLst>
          </p:cNvPr>
          <p:cNvSpPr>
            <a:spLocks noGrp="1"/>
          </p:cNvSpPr>
          <p:nvPr>
            <p:ph type="title"/>
          </p:nvPr>
        </p:nvSpPr>
        <p:spPr>
          <a:xfrm>
            <a:off x="1439334" y="221673"/>
            <a:ext cx="8596668" cy="1320800"/>
          </a:xfrm>
        </p:spPr>
        <p:txBody>
          <a:bodyPr>
            <a:normAutofit/>
          </a:bodyPr>
          <a:lstStyle/>
          <a:p>
            <a:pPr eaLnBrk="1" fontAlgn="auto" hangingPunct="1">
              <a:spcBef>
                <a:spcPts val="0"/>
              </a:spcBef>
              <a:spcAft>
                <a:spcPts val="0"/>
              </a:spcAft>
              <a:defRPr/>
            </a:pPr>
            <a:r>
              <a:rPr lang="en-IN" altLang="en-US" sz="4400" b="1" dirty="0">
                <a:solidFill>
                  <a:schemeClr val="tx1"/>
                </a:solidFill>
                <a:latin typeface="Times New Roman" panose="02020603050405020304" pitchFamily="18" charset="0"/>
                <a:cs typeface="Times New Roman" panose="02020603050405020304" pitchFamily="18" charset="0"/>
              </a:rPr>
              <a:t>Technologies and methodologies </a:t>
            </a:r>
          </a:p>
        </p:txBody>
      </p:sp>
      <p:pic>
        <p:nvPicPr>
          <p:cNvPr id="5" name="Content Placeholder 4">
            <a:extLst>
              <a:ext uri="{FF2B5EF4-FFF2-40B4-BE49-F238E27FC236}">
                <a16:creationId xmlns:a16="http://schemas.microsoft.com/office/drawing/2014/main" id="{04A7981A-5F1D-7B8E-B667-D723270F62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47669" y="1068294"/>
            <a:ext cx="5643296" cy="5643296"/>
          </a:xfrm>
        </p:spPr>
      </p:pic>
    </p:spTree>
    <p:extLst>
      <p:ext uri="{BB962C8B-B14F-4D97-AF65-F5344CB8AC3E}">
        <p14:creationId xmlns:p14="http://schemas.microsoft.com/office/powerpoint/2010/main" val="4075011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35AB1-25D8-C768-05A7-985574812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B9BD2-2C49-2B7F-4F0A-1E1FCCCED390}"/>
              </a:ext>
            </a:extLst>
          </p:cNvPr>
          <p:cNvSpPr>
            <a:spLocks noGrp="1"/>
          </p:cNvSpPr>
          <p:nvPr>
            <p:ph type="title"/>
          </p:nvPr>
        </p:nvSpPr>
        <p:spPr>
          <a:xfrm>
            <a:off x="1439334" y="221673"/>
            <a:ext cx="8596668" cy="1320800"/>
          </a:xfrm>
        </p:spPr>
        <p:txBody>
          <a:bodyPr>
            <a:normAutofit/>
          </a:bodyPr>
          <a:lstStyle/>
          <a:p>
            <a:pPr eaLnBrk="1" fontAlgn="auto" hangingPunct="1">
              <a:spcBef>
                <a:spcPts val="0"/>
              </a:spcBef>
              <a:spcAft>
                <a:spcPts val="0"/>
              </a:spcAft>
              <a:defRPr/>
            </a:pPr>
            <a:r>
              <a:rPr lang="en-IN" altLang="en-US" sz="4400" b="1" dirty="0">
                <a:solidFill>
                  <a:schemeClr val="tx1"/>
                </a:solidFill>
                <a:latin typeface="Times New Roman" panose="02020603050405020304" pitchFamily="18" charset="0"/>
                <a:cs typeface="Times New Roman" panose="02020603050405020304" pitchFamily="18" charset="0"/>
              </a:rPr>
              <a:t>Technologies and methodologies </a:t>
            </a:r>
          </a:p>
        </p:txBody>
      </p:sp>
      <p:sp>
        <p:nvSpPr>
          <p:cNvPr id="3" name="Content Placeholder 2">
            <a:extLst>
              <a:ext uri="{FF2B5EF4-FFF2-40B4-BE49-F238E27FC236}">
                <a16:creationId xmlns:a16="http://schemas.microsoft.com/office/drawing/2014/main" id="{F4BE6653-3087-3E84-5859-B2CD3DF0E3BA}"/>
              </a:ext>
            </a:extLst>
          </p:cNvPr>
          <p:cNvSpPr>
            <a:spLocks noGrp="1"/>
          </p:cNvSpPr>
          <p:nvPr>
            <p:ph idx="1"/>
          </p:nvPr>
        </p:nvSpPr>
        <p:spPr>
          <a:xfrm>
            <a:off x="832391" y="1346473"/>
            <a:ext cx="8596668" cy="4414040"/>
          </a:xfrm>
        </p:spPr>
        <p:txBody>
          <a:bodyPr>
            <a:normAutofit lnSpcReduction="10000"/>
          </a:bodyPr>
          <a:lstStyle/>
          <a:p>
            <a:pPr algn="just">
              <a:buFont typeface="Wingdings" panose="05000000000000000000" pitchFamily="2" charset="2"/>
              <a:buChar char="Ø"/>
            </a:pPr>
            <a:r>
              <a:rPr lang="en-US" sz="2800" b="1" dirty="0">
                <a:solidFill>
                  <a:schemeClr val="tx1"/>
                </a:solidFill>
                <a:latin typeface="Times New Roman" panose="02020603050405020304" pitchFamily="18" charset="0"/>
                <a:cs typeface="Times New Roman" panose="02020603050405020304" pitchFamily="18" charset="0"/>
              </a:rPr>
              <a:t>Next.js, React.js &amp; Tailwind CSS</a:t>
            </a:r>
          </a:p>
          <a:p>
            <a:pPr lvl="1"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Modern frontend stack for fast, SEO-friendly, and highly responsive user interfaces.</a:t>
            </a:r>
          </a:p>
          <a:p>
            <a:pPr lvl="1"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Supports server-side rendering (SSR) to improve performance and Lighthouse scores.</a:t>
            </a:r>
            <a:endParaRPr lang="en-IN" sz="24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800" b="1" dirty="0">
                <a:solidFill>
                  <a:schemeClr val="tx1"/>
                </a:solidFill>
                <a:latin typeface="Times New Roman" panose="02020603050405020304" pitchFamily="18" charset="0"/>
                <a:cs typeface="Times New Roman" panose="02020603050405020304" pitchFamily="18" charset="0"/>
              </a:rPr>
              <a:t>Node.js &amp; Express.js</a:t>
            </a:r>
          </a:p>
          <a:p>
            <a:pPr lvl="1"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Lightweight backend runtime and framework replacing Nest.js.</a:t>
            </a:r>
          </a:p>
          <a:p>
            <a:pPr lvl="1"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Provides modular routing and structured APIs for seamless communication between the UI and AI layers.</a:t>
            </a:r>
          </a:p>
        </p:txBody>
      </p:sp>
    </p:spTree>
    <p:extLst>
      <p:ext uri="{BB962C8B-B14F-4D97-AF65-F5344CB8AC3E}">
        <p14:creationId xmlns:p14="http://schemas.microsoft.com/office/powerpoint/2010/main" val="1687400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A3495-700C-8ECF-231C-CB8FEC67F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D47C8-48A2-517C-360A-937DED0AEBC0}"/>
              </a:ext>
            </a:extLst>
          </p:cNvPr>
          <p:cNvSpPr>
            <a:spLocks noGrp="1"/>
          </p:cNvSpPr>
          <p:nvPr>
            <p:ph type="title"/>
          </p:nvPr>
        </p:nvSpPr>
        <p:spPr>
          <a:xfrm>
            <a:off x="1439334" y="221673"/>
            <a:ext cx="8596668" cy="1320800"/>
          </a:xfrm>
        </p:spPr>
        <p:txBody>
          <a:bodyPr>
            <a:normAutofit/>
          </a:bodyPr>
          <a:lstStyle/>
          <a:p>
            <a:pPr eaLnBrk="1" fontAlgn="auto" hangingPunct="1">
              <a:spcBef>
                <a:spcPts val="0"/>
              </a:spcBef>
              <a:spcAft>
                <a:spcPts val="0"/>
              </a:spcAft>
              <a:defRPr/>
            </a:pPr>
            <a:r>
              <a:rPr lang="en-IN" altLang="en-US" sz="4400" b="1" dirty="0">
                <a:solidFill>
                  <a:schemeClr val="tx1"/>
                </a:solidFill>
                <a:latin typeface="Times New Roman" panose="02020603050405020304" pitchFamily="18" charset="0"/>
                <a:cs typeface="Times New Roman" panose="02020603050405020304" pitchFamily="18" charset="0"/>
              </a:rPr>
              <a:t>Technologies and methodologies </a:t>
            </a:r>
          </a:p>
        </p:txBody>
      </p:sp>
      <p:sp>
        <p:nvSpPr>
          <p:cNvPr id="3" name="Content Placeholder 2">
            <a:extLst>
              <a:ext uri="{FF2B5EF4-FFF2-40B4-BE49-F238E27FC236}">
                <a16:creationId xmlns:a16="http://schemas.microsoft.com/office/drawing/2014/main" id="{CFBA6569-9F67-84E8-79EC-D60A2C994EA0}"/>
              </a:ext>
            </a:extLst>
          </p:cNvPr>
          <p:cNvSpPr>
            <a:spLocks noGrp="1"/>
          </p:cNvSpPr>
          <p:nvPr>
            <p:ph idx="1"/>
          </p:nvPr>
        </p:nvSpPr>
        <p:spPr>
          <a:xfrm>
            <a:off x="832391" y="1346473"/>
            <a:ext cx="8596668" cy="4414040"/>
          </a:xfrm>
        </p:spPr>
        <p:txBody>
          <a:bodyPr>
            <a:normAutofit fontScale="92500" lnSpcReduction="20000"/>
          </a:bodyPr>
          <a:lstStyle/>
          <a:p>
            <a:pPr algn="just">
              <a:buFont typeface="Wingdings" panose="05000000000000000000" pitchFamily="2" charset="2"/>
              <a:buChar char="Ø"/>
            </a:pPr>
            <a:r>
              <a:rPr lang="en-IN" sz="3000" b="1" dirty="0">
                <a:solidFill>
                  <a:schemeClr val="tx1"/>
                </a:solidFill>
                <a:latin typeface="Times New Roman" panose="02020603050405020304" pitchFamily="18" charset="0"/>
                <a:cs typeface="Times New Roman" panose="02020603050405020304" pitchFamily="18" charset="0"/>
              </a:rPr>
              <a:t>Python, Scikit-learn &amp; </a:t>
            </a:r>
            <a:r>
              <a:rPr lang="en-IN" sz="3000" b="1" dirty="0" err="1">
                <a:solidFill>
                  <a:schemeClr val="tx1"/>
                </a:solidFill>
                <a:latin typeface="Times New Roman" panose="02020603050405020304" pitchFamily="18" charset="0"/>
                <a:cs typeface="Times New Roman" panose="02020603050405020304" pitchFamily="18" charset="0"/>
              </a:rPr>
              <a:t>PyTorch</a:t>
            </a:r>
            <a:endParaRPr lang="en-IN" sz="3000" b="1" dirty="0">
              <a:solidFill>
                <a:schemeClr val="tx1"/>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Manages the core backend AI logic and data preprocessing.</a:t>
            </a:r>
          </a:p>
          <a:p>
            <a:pPr lvl="1" algn="just">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Powers the predictive lead scoring algorithms (Random Forest/</a:t>
            </a:r>
            <a:r>
              <a:rPr lang="en-US" sz="2600" dirty="0" err="1">
                <a:solidFill>
                  <a:schemeClr val="tx1"/>
                </a:solidFill>
                <a:latin typeface="Times New Roman" panose="02020603050405020304" pitchFamily="18" charset="0"/>
                <a:cs typeface="Times New Roman" panose="02020603050405020304" pitchFamily="18" charset="0"/>
              </a:rPr>
              <a:t>XGBoost</a:t>
            </a:r>
            <a:r>
              <a:rPr lang="en-US" sz="2600" dirty="0">
                <a:solidFill>
                  <a:schemeClr val="tx1"/>
                </a:solidFill>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IN" sz="3000" b="1" dirty="0">
                <a:solidFill>
                  <a:schemeClr val="tx1"/>
                </a:solidFill>
                <a:latin typeface="Times New Roman" panose="02020603050405020304" pitchFamily="18" charset="0"/>
                <a:cs typeface="Times New Roman" panose="02020603050405020304" pitchFamily="18" charset="0"/>
              </a:rPr>
              <a:t>Mistral AI, </a:t>
            </a:r>
            <a:r>
              <a:rPr lang="en-IN" sz="3000" b="1" dirty="0" err="1">
                <a:solidFill>
                  <a:schemeClr val="tx1"/>
                </a:solidFill>
                <a:latin typeface="Times New Roman" panose="02020603050405020304" pitchFamily="18" charset="0"/>
                <a:cs typeface="Times New Roman" panose="02020603050405020304" pitchFamily="18" charset="0"/>
              </a:rPr>
              <a:t>Ollama</a:t>
            </a:r>
            <a:r>
              <a:rPr lang="en-IN" sz="3000" b="1" dirty="0">
                <a:solidFill>
                  <a:schemeClr val="tx1"/>
                </a:solidFill>
                <a:latin typeface="Times New Roman" panose="02020603050405020304" pitchFamily="18" charset="0"/>
                <a:cs typeface="Times New Roman" panose="02020603050405020304" pitchFamily="18" charset="0"/>
              </a:rPr>
              <a:t> &amp; Hugging Face</a:t>
            </a:r>
          </a:p>
          <a:p>
            <a:pPr lvl="1" algn="just">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Local LLM hosting and embedding generation for the conversational chatbot.</a:t>
            </a:r>
          </a:p>
          <a:p>
            <a:pPr lvl="1" algn="just">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Uses prompt engineering and RAG architecture to assign Hot/Warm/Cold labels.</a:t>
            </a:r>
          </a:p>
          <a:p>
            <a:pPr lvl="1" algn="just">
              <a:buFont typeface="Wingdings" panose="05000000000000000000" pitchFamily="2" charset="2"/>
              <a:buChar char="Ø"/>
            </a:pPr>
            <a:r>
              <a:rPr lang="en-US" sz="2600" dirty="0">
                <a:solidFill>
                  <a:schemeClr val="tx1"/>
                </a:solidFill>
                <a:latin typeface="Times New Roman" panose="02020603050405020304" pitchFamily="18" charset="0"/>
                <a:cs typeface="Times New Roman" panose="02020603050405020304" pitchFamily="18" charset="0"/>
              </a:rPr>
              <a:t>Keeps sensitive lead data completely private by running models securely.</a:t>
            </a:r>
            <a:endParaRPr lang="en-IN" sz="2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6020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536E9-607F-F1C6-5A2C-B009C68E0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E024E6-8A3E-DBD1-DB31-F6AAE1044145}"/>
              </a:ext>
            </a:extLst>
          </p:cNvPr>
          <p:cNvSpPr>
            <a:spLocks noGrp="1"/>
          </p:cNvSpPr>
          <p:nvPr>
            <p:ph type="title"/>
          </p:nvPr>
        </p:nvSpPr>
        <p:spPr>
          <a:xfrm>
            <a:off x="1439334" y="221673"/>
            <a:ext cx="8596668" cy="1320800"/>
          </a:xfrm>
        </p:spPr>
        <p:txBody>
          <a:bodyPr>
            <a:normAutofit/>
          </a:bodyPr>
          <a:lstStyle/>
          <a:p>
            <a:pPr eaLnBrk="1" fontAlgn="auto" hangingPunct="1">
              <a:spcBef>
                <a:spcPts val="0"/>
              </a:spcBef>
              <a:spcAft>
                <a:spcPts val="0"/>
              </a:spcAft>
              <a:defRPr/>
            </a:pPr>
            <a:r>
              <a:rPr lang="en-IN" altLang="en-US" sz="4400" b="1" dirty="0">
                <a:solidFill>
                  <a:schemeClr val="tx1"/>
                </a:solidFill>
                <a:latin typeface="Times New Roman" panose="02020603050405020304" pitchFamily="18" charset="0"/>
                <a:cs typeface="Times New Roman" panose="02020603050405020304" pitchFamily="18" charset="0"/>
              </a:rPr>
              <a:t>Technologies and methodologies </a:t>
            </a:r>
          </a:p>
        </p:txBody>
      </p:sp>
      <p:sp>
        <p:nvSpPr>
          <p:cNvPr id="3" name="Content Placeholder 2">
            <a:extLst>
              <a:ext uri="{FF2B5EF4-FFF2-40B4-BE49-F238E27FC236}">
                <a16:creationId xmlns:a16="http://schemas.microsoft.com/office/drawing/2014/main" id="{610509DB-26A8-2411-A3BA-7DABF369F187}"/>
              </a:ext>
            </a:extLst>
          </p:cNvPr>
          <p:cNvSpPr>
            <a:spLocks noGrp="1"/>
          </p:cNvSpPr>
          <p:nvPr>
            <p:ph idx="1"/>
          </p:nvPr>
        </p:nvSpPr>
        <p:spPr>
          <a:xfrm>
            <a:off x="832391" y="1346473"/>
            <a:ext cx="8596668" cy="4414040"/>
          </a:xfrm>
        </p:spPr>
        <p:txBody>
          <a:bodyPr>
            <a:normAutofit lnSpcReduction="10000"/>
          </a:bodyPr>
          <a:lstStyle/>
          <a:p>
            <a:pPr algn="just">
              <a:lnSpc>
                <a:spcPct val="90000"/>
              </a:lnSpc>
              <a:buFont typeface="Wingdings" panose="05000000000000000000" pitchFamily="2" charset="2"/>
              <a:buChar char="Ø"/>
            </a:pPr>
            <a:r>
              <a:rPr lang="en-IN" sz="2800" b="1" dirty="0">
                <a:solidFill>
                  <a:schemeClr val="tx1"/>
                </a:solidFill>
                <a:latin typeface="Times New Roman" panose="02020603050405020304" pitchFamily="18" charset="0"/>
                <a:cs typeface="Times New Roman" panose="02020603050405020304" pitchFamily="18" charset="0"/>
              </a:rPr>
              <a:t>PostgreSQL &amp; MongoDB</a:t>
            </a:r>
          </a:p>
          <a:p>
            <a:pPr lvl="1"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Replaces SQLite for enterprise-grade scalability.</a:t>
            </a:r>
          </a:p>
          <a:p>
            <a:pPr lvl="1"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PostgreSQL handles structured CRM data, while MongoDB stores unstructured chat logs and interaction history.</a:t>
            </a:r>
          </a:p>
          <a:p>
            <a:pPr algn="just">
              <a:buFont typeface="Wingdings" panose="05000000000000000000" pitchFamily="2" charset="2"/>
              <a:buChar char="Ø"/>
            </a:pPr>
            <a:r>
              <a:rPr lang="en-US" sz="2800" b="1" dirty="0">
                <a:solidFill>
                  <a:schemeClr val="tx1"/>
                </a:solidFill>
                <a:latin typeface="Times New Roman" panose="02020603050405020304" pitchFamily="18" charset="0"/>
                <a:cs typeface="Times New Roman" panose="02020603050405020304" pitchFamily="18" charset="0"/>
              </a:rPr>
              <a:t>Salesforce CRM</a:t>
            </a:r>
          </a:p>
          <a:p>
            <a:pPr lvl="1"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The ultimate destination for the data, enabling autonomous lead management and proactive sales actions.</a:t>
            </a:r>
          </a:p>
          <a:p>
            <a:pPr algn="just">
              <a:buFont typeface="Wingdings" panose="05000000000000000000" pitchFamily="2" charset="2"/>
              <a:buChar char="Ø"/>
            </a:pPr>
            <a:r>
              <a:rPr lang="en-US" sz="2800" b="1" dirty="0">
                <a:solidFill>
                  <a:schemeClr val="tx1"/>
                </a:solidFill>
                <a:latin typeface="Times New Roman" panose="02020603050405020304" pitchFamily="18" charset="0"/>
                <a:cs typeface="Times New Roman" panose="02020603050405020304" pitchFamily="18" charset="0"/>
              </a:rPr>
              <a:t>Docker &amp; AWS</a:t>
            </a:r>
          </a:p>
          <a:p>
            <a:pPr lvl="1" algn="just">
              <a:lnSpc>
                <a:spcPct val="90000"/>
              </a:lnSpc>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Ensures reliable, containerized application deployment on highly scalable cloud infrastructure.</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1360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E7338-6BBB-7A0B-9B55-30F742C3B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C7AD7-FBE6-01C0-0FAB-23BB46507E1F}"/>
              </a:ext>
            </a:extLst>
          </p:cNvPr>
          <p:cNvSpPr>
            <a:spLocks noGrp="1"/>
          </p:cNvSpPr>
          <p:nvPr>
            <p:ph type="title"/>
          </p:nvPr>
        </p:nvSpPr>
        <p:spPr>
          <a:xfrm>
            <a:off x="1439334" y="221674"/>
            <a:ext cx="8596668" cy="961668"/>
          </a:xfrm>
        </p:spPr>
        <p:txBody>
          <a:bodyPr>
            <a:normAutofit/>
          </a:bodyPr>
          <a:lstStyle/>
          <a:p>
            <a:pPr algn="ctr"/>
            <a:r>
              <a:rPr lang="en-IN" altLang="en-US" sz="44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AAC56D3-9699-D099-1B8C-4DF78866B54D}"/>
              </a:ext>
            </a:extLst>
          </p:cNvPr>
          <p:cNvSpPr txBox="1"/>
          <p:nvPr/>
        </p:nvSpPr>
        <p:spPr>
          <a:xfrm>
            <a:off x="5623111" y="6361993"/>
            <a:ext cx="610048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Home page</a:t>
            </a:r>
            <a:endParaRPr lang="en-IN" dirty="0"/>
          </a:p>
        </p:txBody>
      </p:sp>
      <p:pic>
        <p:nvPicPr>
          <p:cNvPr id="8" name="Picture 7">
            <a:extLst>
              <a:ext uri="{FF2B5EF4-FFF2-40B4-BE49-F238E27FC236}">
                <a16:creationId xmlns:a16="http://schemas.microsoft.com/office/drawing/2014/main" id="{FD17EDDF-F6D3-131D-B763-61D57A47BF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871" y="1041440"/>
            <a:ext cx="11201164" cy="5320553"/>
          </a:xfrm>
          <a:prstGeom prst="rect">
            <a:avLst/>
          </a:prstGeom>
        </p:spPr>
      </p:pic>
    </p:spTree>
    <p:extLst>
      <p:ext uri="{BB962C8B-B14F-4D97-AF65-F5344CB8AC3E}">
        <p14:creationId xmlns:p14="http://schemas.microsoft.com/office/powerpoint/2010/main" val="132493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3EEE3-73A7-12EF-0908-850486A7C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C58A22-D9B4-2A3F-AA0D-075C3A5EB620}"/>
              </a:ext>
            </a:extLst>
          </p:cNvPr>
          <p:cNvSpPr>
            <a:spLocks noGrp="1"/>
          </p:cNvSpPr>
          <p:nvPr>
            <p:ph type="title"/>
          </p:nvPr>
        </p:nvSpPr>
        <p:spPr>
          <a:xfrm>
            <a:off x="1439334" y="221674"/>
            <a:ext cx="8596668" cy="961668"/>
          </a:xfrm>
        </p:spPr>
        <p:txBody>
          <a:bodyPr>
            <a:normAutofit/>
          </a:bodyPr>
          <a:lstStyle/>
          <a:p>
            <a:pPr algn="ctr"/>
            <a:r>
              <a:rPr lang="en-IN" altLang="en-US" sz="44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A1F9261-429D-B916-7B7F-0BE92BBD6195}"/>
              </a:ext>
            </a:extLst>
          </p:cNvPr>
          <p:cNvSpPr txBox="1"/>
          <p:nvPr/>
        </p:nvSpPr>
        <p:spPr>
          <a:xfrm>
            <a:off x="5032842" y="6436121"/>
            <a:ext cx="610048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Products of website</a:t>
            </a:r>
            <a:endParaRPr lang="en-IN" dirty="0"/>
          </a:p>
        </p:txBody>
      </p:sp>
      <p:pic>
        <p:nvPicPr>
          <p:cNvPr id="3" name="Picture 2">
            <a:extLst>
              <a:ext uri="{FF2B5EF4-FFF2-40B4-BE49-F238E27FC236}">
                <a16:creationId xmlns:a16="http://schemas.microsoft.com/office/drawing/2014/main" id="{DD0FFC26-2583-8340-7107-4DDAD58B91D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730" y="1089391"/>
            <a:ext cx="11048551" cy="5231210"/>
          </a:xfrm>
          <a:prstGeom prst="rect">
            <a:avLst/>
          </a:prstGeom>
          <a:noFill/>
          <a:ln>
            <a:noFill/>
          </a:ln>
        </p:spPr>
      </p:pic>
    </p:spTree>
    <p:extLst>
      <p:ext uri="{BB962C8B-B14F-4D97-AF65-F5344CB8AC3E}">
        <p14:creationId xmlns:p14="http://schemas.microsoft.com/office/powerpoint/2010/main" val="3845472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73AA6-C7D6-7A34-D98F-28E049DF9B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5E761-213D-406C-117E-2F4F7164357B}"/>
              </a:ext>
            </a:extLst>
          </p:cNvPr>
          <p:cNvSpPr>
            <a:spLocks noGrp="1"/>
          </p:cNvSpPr>
          <p:nvPr>
            <p:ph type="title"/>
          </p:nvPr>
        </p:nvSpPr>
        <p:spPr>
          <a:xfrm>
            <a:off x="1439334" y="221674"/>
            <a:ext cx="8596668" cy="961668"/>
          </a:xfrm>
        </p:spPr>
        <p:txBody>
          <a:bodyPr>
            <a:normAutofit/>
          </a:bodyPr>
          <a:lstStyle/>
          <a:p>
            <a:pPr algn="ctr"/>
            <a:r>
              <a:rPr lang="en-IN" altLang="en-US" sz="44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8876A5E-8B3A-DC70-65DB-1F0EB38988B9}"/>
              </a:ext>
            </a:extLst>
          </p:cNvPr>
          <p:cNvSpPr txBox="1"/>
          <p:nvPr/>
        </p:nvSpPr>
        <p:spPr>
          <a:xfrm>
            <a:off x="3497500" y="6266994"/>
            <a:ext cx="610048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Chatbot Lead Qualification and Interaction</a:t>
            </a:r>
            <a:endParaRPr lang="en-IN" dirty="0"/>
          </a:p>
        </p:txBody>
      </p:sp>
      <p:pic>
        <p:nvPicPr>
          <p:cNvPr id="3" name="Picture 2">
            <a:extLst>
              <a:ext uri="{FF2B5EF4-FFF2-40B4-BE49-F238E27FC236}">
                <a16:creationId xmlns:a16="http://schemas.microsoft.com/office/drawing/2014/main" id="{8F6FAC58-6B91-E9E7-01F6-C8A9A728E7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68371" y="977153"/>
            <a:ext cx="3538594" cy="5207793"/>
          </a:xfrm>
          <a:prstGeom prst="rect">
            <a:avLst/>
          </a:prstGeom>
          <a:noFill/>
          <a:ln>
            <a:noFill/>
          </a:ln>
        </p:spPr>
      </p:pic>
    </p:spTree>
    <p:extLst>
      <p:ext uri="{BB962C8B-B14F-4D97-AF65-F5344CB8AC3E}">
        <p14:creationId xmlns:p14="http://schemas.microsoft.com/office/powerpoint/2010/main" val="4253451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471E3-4FD7-0666-B1E5-343B2D803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1F68D-6209-B0D1-DBD3-FC6CC2AD3DC5}"/>
              </a:ext>
            </a:extLst>
          </p:cNvPr>
          <p:cNvSpPr>
            <a:spLocks noGrp="1"/>
          </p:cNvSpPr>
          <p:nvPr>
            <p:ph type="title"/>
          </p:nvPr>
        </p:nvSpPr>
        <p:spPr>
          <a:xfrm>
            <a:off x="1439334" y="221674"/>
            <a:ext cx="8596668" cy="961668"/>
          </a:xfrm>
        </p:spPr>
        <p:txBody>
          <a:bodyPr>
            <a:normAutofit/>
          </a:bodyPr>
          <a:lstStyle/>
          <a:p>
            <a:pPr algn="ctr"/>
            <a:r>
              <a:rPr lang="en-IN" altLang="en-US" sz="44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1716878-3DE5-D014-0B55-539AAB0D06F6}"/>
              </a:ext>
            </a:extLst>
          </p:cNvPr>
          <p:cNvSpPr txBox="1"/>
          <p:nvPr/>
        </p:nvSpPr>
        <p:spPr>
          <a:xfrm>
            <a:off x="4798359" y="6146528"/>
            <a:ext cx="610048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Email Generation</a:t>
            </a:r>
            <a:endParaRPr lang="en-IN" dirty="0"/>
          </a:p>
        </p:txBody>
      </p:sp>
      <p:pic>
        <p:nvPicPr>
          <p:cNvPr id="4" name="Picture 3">
            <a:extLst>
              <a:ext uri="{FF2B5EF4-FFF2-40B4-BE49-F238E27FC236}">
                <a16:creationId xmlns:a16="http://schemas.microsoft.com/office/drawing/2014/main" id="{24EEFCF0-0409-4AD1-A0C8-098C94B9D70C}"/>
              </a:ext>
            </a:extLst>
          </p:cNvPr>
          <p:cNvPicPr>
            <a:picLocks noChangeAspect="1"/>
          </p:cNvPicPr>
          <p:nvPr/>
        </p:nvPicPr>
        <p:blipFill rotWithShape="1">
          <a:blip r:embed="rId2">
            <a:extLst>
              <a:ext uri="{28A0092B-C50C-407E-A947-70E740481C1C}">
                <a14:useLocalDpi xmlns:a14="http://schemas.microsoft.com/office/drawing/2010/main" val="0"/>
              </a:ext>
            </a:extLst>
          </a:blip>
          <a:srcRect r="-132"/>
          <a:stretch/>
        </p:blipFill>
        <p:spPr bwMode="auto">
          <a:xfrm>
            <a:off x="2306165" y="1183342"/>
            <a:ext cx="7088846" cy="4820131"/>
          </a:xfrm>
          <a:prstGeom prst="rect">
            <a:avLst/>
          </a:prstGeom>
          <a:noFill/>
          <a:ln>
            <a:noFill/>
          </a:ln>
        </p:spPr>
      </p:pic>
    </p:spTree>
    <p:extLst>
      <p:ext uri="{BB962C8B-B14F-4D97-AF65-F5344CB8AC3E}">
        <p14:creationId xmlns:p14="http://schemas.microsoft.com/office/powerpoint/2010/main" val="4021924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7A5A1-ED1D-1781-0565-066839B07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D152F-58AB-147F-5F49-5488970BB6F6}"/>
              </a:ext>
            </a:extLst>
          </p:cNvPr>
          <p:cNvSpPr>
            <a:spLocks noGrp="1"/>
          </p:cNvSpPr>
          <p:nvPr>
            <p:ph type="title"/>
          </p:nvPr>
        </p:nvSpPr>
        <p:spPr>
          <a:xfrm>
            <a:off x="1439334" y="221674"/>
            <a:ext cx="8596668" cy="961668"/>
          </a:xfrm>
        </p:spPr>
        <p:txBody>
          <a:bodyPr>
            <a:normAutofit/>
          </a:bodyPr>
          <a:lstStyle/>
          <a:p>
            <a:pPr algn="ctr"/>
            <a:r>
              <a:rPr lang="en-IN" altLang="en-US" sz="44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D4242FF-B041-EB25-5AC6-BCAB9D0D6693}"/>
              </a:ext>
            </a:extLst>
          </p:cNvPr>
          <p:cNvSpPr txBox="1"/>
          <p:nvPr/>
        </p:nvSpPr>
        <p:spPr>
          <a:xfrm>
            <a:off x="3155203" y="6266994"/>
            <a:ext cx="610048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Automated Follow-up Email via SMTP Integration</a:t>
            </a:r>
            <a:endParaRPr lang="en-IN" dirty="0"/>
          </a:p>
        </p:txBody>
      </p:sp>
      <p:pic>
        <p:nvPicPr>
          <p:cNvPr id="3" name="Picture 2">
            <a:extLst>
              <a:ext uri="{FF2B5EF4-FFF2-40B4-BE49-F238E27FC236}">
                <a16:creationId xmlns:a16="http://schemas.microsoft.com/office/drawing/2014/main" id="{4F580C5B-A225-D148-34D1-C2D06873DF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55203" y="1018394"/>
            <a:ext cx="5881594" cy="5102680"/>
          </a:xfrm>
          <a:prstGeom prst="rect">
            <a:avLst/>
          </a:prstGeom>
          <a:noFill/>
          <a:ln>
            <a:noFill/>
          </a:ln>
        </p:spPr>
      </p:pic>
    </p:spTree>
    <p:extLst>
      <p:ext uri="{BB962C8B-B14F-4D97-AF65-F5344CB8AC3E}">
        <p14:creationId xmlns:p14="http://schemas.microsoft.com/office/powerpoint/2010/main" val="2780130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2AB70-5628-E5F0-ABFE-B7D6D312D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ABED0-2A0C-B51E-6B4A-D528E17800E8}"/>
              </a:ext>
            </a:extLst>
          </p:cNvPr>
          <p:cNvSpPr>
            <a:spLocks noGrp="1"/>
          </p:cNvSpPr>
          <p:nvPr>
            <p:ph type="title"/>
          </p:nvPr>
        </p:nvSpPr>
        <p:spPr>
          <a:xfrm>
            <a:off x="1439334" y="221673"/>
            <a:ext cx="8596668" cy="782374"/>
          </a:xfrm>
        </p:spPr>
        <p:txBody>
          <a:bodyPr>
            <a:normAutofit fontScale="90000"/>
          </a:bodyPr>
          <a:lstStyle/>
          <a:p>
            <a:pPr algn="ctr"/>
            <a:r>
              <a:rPr lang="en-IN" altLang="en-US" sz="44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Outcome</a:t>
            </a:r>
            <a:br>
              <a:rPr lang="en-IN" altLang="en-US" sz="44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br>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17B2515A-9519-8115-3620-87AE937A548B}"/>
              </a:ext>
            </a:extLst>
          </p:cNvPr>
          <p:cNvSpPr>
            <a:spLocks noGrp="1"/>
          </p:cNvSpPr>
          <p:nvPr>
            <p:ph idx="1"/>
          </p:nvPr>
        </p:nvSpPr>
        <p:spPr>
          <a:xfrm>
            <a:off x="677334" y="1389529"/>
            <a:ext cx="9434854" cy="4651833"/>
          </a:xfrm>
        </p:spPr>
        <p:txBody>
          <a:bodyPr>
            <a:normAutofit/>
          </a:bodyPr>
          <a:lstStyle/>
          <a:p>
            <a:pPr algn="just">
              <a:buFont typeface="Wingdings" panose="05000000000000000000" pitchFamily="2" charset="2"/>
              <a:buChar char="Ø"/>
            </a:pPr>
            <a:r>
              <a:rPr lang="en-US" sz="2400" dirty="0">
                <a:solidFill>
                  <a:srgbClr val="000000"/>
                </a:solidFill>
                <a:latin typeface="Times New Roman" panose="02020603050405020304" pitchFamily="18" charset="0"/>
              </a:rPr>
              <a:t>97% Qualification Accuracy: The hybrid machine learning model accurately identifies high-value leads, resulting in a 28% increase in actual sales conversions.</a:t>
            </a:r>
          </a:p>
          <a:p>
            <a:pPr algn="just">
              <a:buFont typeface="Wingdings" panose="05000000000000000000" pitchFamily="2" charset="2"/>
              <a:buChar char="Ø"/>
            </a:pPr>
            <a:r>
              <a:rPr lang="en-US" sz="2400" dirty="0">
                <a:solidFill>
                  <a:srgbClr val="000000"/>
                </a:solidFill>
                <a:latin typeface="Times New Roman" panose="02020603050405020304" pitchFamily="18" charset="0"/>
              </a:rPr>
              <a:t>42% Faster Response Times: Initial engagement delays were drastically reduced from an average of 14 hours down to under 3 minutes.</a:t>
            </a:r>
          </a:p>
          <a:p>
            <a:pPr algn="just">
              <a:buFont typeface="Wingdings" panose="05000000000000000000" pitchFamily="2" charset="2"/>
              <a:buChar char="Ø"/>
            </a:pPr>
            <a:r>
              <a:rPr lang="en-US" sz="2400" dirty="0">
                <a:solidFill>
                  <a:srgbClr val="000000"/>
                </a:solidFill>
                <a:latin typeface="Times New Roman" panose="02020603050405020304" pitchFamily="18" charset="0"/>
              </a:rPr>
              <a:t>Real-Time AI Automation: The integrated </a:t>
            </a:r>
            <a:r>
              <a:rPr lang="en-US" sz="2400" dirty="0" err="1">
                <a:solidFill>
                  <a:srgbClr val="000000"/>
                </a:solidFill>
                <a:latin typeface="Times New Roman" panose="02020603050405020304" pitchFamily="18" charset="0"/>
              </a:rPr>
              <a:t>Agentforce</a:t>
            </a:r>
            <a:r>
              <a:rPr lang="en-US" sz="2400" dirty="0">
                <a:solidFill>
                  <a:srgbClr val="000000"/>
                </a:solidFill>
                <a:latin typeface="Times New Roman" panose="02020603050405020304" pitchFamily="18" charset="0"/>
              </a:rPr>
              <a:t> chatbot (Mistral 7B + RAG) successfully handles complex B2B interactions with a hallucination rate of less than 2%.</a:t>
            </a:r>
          </a:p>
          <a:p>
            <a:pPr algn="just">
              <a:buFont typeface="Wingdings" panose="05000000000000000000" pitchFamily="2" charset="2"/>
              <a:buChar char="Ø"/>
            </a:pPr>
            <a:r>
              <a:rPr lang="en-US" sz="2400" dirty="0">
                <a:solidFill>
                  <a:srgbClr val="000000"/>
                </a:solidFill>
                <a:latin typeface="Times New Roman" panose="02020603050405020304" pitchFamily="18" charset="0"/>
              </a:rPr>
              <a:t>Unified CRM Integration: All lead data, scoring, and interactions are automatically synced to Salesforce in real time, creating a centralized "single source of truth" for the sales team.</a:t>
            </a:r>
          </a:p>
        </p:txBody>
      </p:sp>
    </p:spTree>
    <p:extLst>
      <p:ext uri="{BB962C8B-B14F-4D97-AF65-F5344CB8AC3E}">
        <p14:creationId xmlns:p14="http://schemas.microsoft.com/office/powerpoint/2010/main" val="1575335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41EF0-8647-3D96-5540-1D7CB59EE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66F34-E26E-68C5-1CDE-C3246525DAC6}"/>
              </a:ext>
            </a:extLst>
          </p:cNvPr>
          <p:cNvSpPr>
            <a:spLocks noGrp="1"/>
          </p:cNvSpPr>
          <p:nvPr>
            <p:ph type="title"/>
          </p:nvPr>
        </p:nvSpPr>
        <p:spPr>
          <a:xfrm>
            <a:off x="1439334" y="221673"/>
            <a:ext cx="8596668" cy="782374"/>
          </a:xfrm>
        </p:spPr>
        <p:txBody>
          <a:bodyPr>
            <a:normAutofit/>
          </a:bodyPr>
          <a:lstStyle/>
          <a:p>
            <a:pPr algn="ctr"/>
            <a:r>
              <a:rPr lang="en-IN" altLang="en-US" sz="44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References</a:t>
            </a:r>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3B3AB42-9A87-7BF0-A66D-73385E4C43B5}"/>
              </a:ext>
            </a:extLst>
          </p:cNvPr>
          <p:cNvSpPr>
            <a:spLocks noGrp="1"/>
          </p:cNvSpPr>
          <p:nvPr>
            <p:ph idx="1"/>
          </p:nvPr>
        </p:nvSpPr>
        <p:spPr>
          <a:xfrm>
            <a:off x="528919" y="1228165"/>
            <a:ext cx="10605246" cy="5235388"/>
          </a:xfrm>
        </p:spPr>
        <p:txBody>
          <a:bodyPr>
            <a:normAutofit/>
          </a:bodyPr>
          <a:lstStyle/>
          <a:p>
            <a:pPr marL="0" indent="0" algn="just">
              <a:buNone/>
            </a:pPr>
            <a:r>
              <a:rPr lang="en-IN" sz="2300" dirty="0">
                <a:solidFill>
                  <a:schemeClr val="tx1"/>
                </a:solidFill>
                <a:latin typeface="Times New Roman" panose="02020603050405020304" pitchFamily="18" charset="0"/>
                <a:cs typeface="Times New Roman" panose="02020603050405020304" pitchFamily="18" charset="0"/>
              </a:rPr>
              <a:t>[1] Shiva Krishna &amp; Deepak </a:t>
            </a:r>
            <a:r>
              <a:rPr lang="en-IN" sz="2300" dirty="0" err="1">
                <a:solidFill>
                  <a:schemeClr val="tx1"/>
                </a:solidFill>
                <a:latin typeface="Times New Roman" panose="02020603050405020304" pitchFamily="18" charset="0"/>
                <a:cs typeface="Times New Roman" panose="02020603050405020304" pitchFamily="18" charset="0"/>
              </a:rPr>
              <a:t>Veeravalli</a:t>
            </a:r>
            <a:r>
              <a:rPr lang="en-IN" sz="2300" dirty="0">
                <a:solidFill>
                  <a:schemeClr val="tx1"/>
                </a:solidFill>
                <a:latin typeface="Times New Roman" panose="02020603050405020304" pitchFamily="18" charset="0"/>
                <a:cs typeface="Times New Roman" panose="02020603050405020304" pitchFamily="18" charset="0"/>
              </a:rPr>
              <a:t>, The Evolution of CRM: How Salesforce Einstein AI Simplifies Predictive Analytics, International Research Journal of Modern Engineering and Technology, Volume 10, Issue 3, Pages 255–270, 2025.</a:t>
            </a:r>
          </a:p>
          <a:p>
            <a:pPr marL="0" indent="0" algn="just">
              <a:buNone/>
            </a:pPr>
            <a:r>
              <a:rPr lang="en-IN" sz="2300" dirty="0">
                <a:solidFill>
                  <a:schemeClr val="tx1"/>
                </a:solidFill>
                <a:latin typeface="Times New Roman" panose="02020603050405020304" pitchFamily="18" charset="0"/>
                <a:cs typeface="Times New Roman" panose="02020603050405020304" pitchFamily="18" charset="0"/>
              </a:rPr>
              <a:t>[2] Navdeep Singh &amp; Daisy Adhikari, AI-Driven Social Media Analytics for eCommerce Advertising, International Research Journal of Engineering and Technology, Volume 10, Issue 12, Pages 509–515, 2025.</a:t>
            </a:r>
          </a:p>
          <a:p>
            <a:pPr marL="0" indent="0" algn="just">
              <a:buNone/>
            </a:pPr>
            <a:r>
              <a:rPr lang="en-IN" sz="2300" dirty="0">
                <a:solidFill>
                  <a:schemeClr val="tx1"/>
                </a:solidFill>
                <a:latin typeface="Times New Roman" panose="02020603050405020304" pitchFamily="18" charset="0"/>
                <a:cs typeface="Times New Roman" panose="02020603050405020304" pitchFamily="18" charset="0"/>
              </a:rPr>
              <a:t>[3] André Barbosa &amp; Alan Godoy, Augmenting Customer Support with an NLP-based Receptionist, </a:t>
            </a:r>
            <a:r>
              <a:rPr lang="en-IN" sz="2300" dirty="0" err="1">
                <a:solidFill>
                  <a:schemeClr val="tx1"/>
                </a:solidFill>
                <a:latin typeface="Times New Roman" panose="02020603050405020304" pitchFamily="18" charset="0"/>
                <a:cs typeface="Times New Roman" panose="02020603050405020304" pitchFamily="18" charset="0"/>
              </a:rPr>
              <a:t>arXiv</a:t>
            </a:r>
            <a:r>
              <a:rPr lang="en-IN" sz="2300" dirty="0">
                <a:solidFill>
                  <a:schemeClr val="tx1"/>
                </a:solidFill>
                <a:latin typeface="Times New Roman" panose="02020603050405020304" pitchFamily="18" charset="0"/>
                <a:cs typeface="Times New Roman" panose="02020603050405020304" pitchFamily="18" charset="0"/>
              </a:rPr>
              <a:t> preprint arXiv:2112.01959, 2025.</a:t>
            </a:r>
          </a:p>
          <a:p>
            <a:pPr marL="0" indent="0" algn="just">
              <a:buNone/>
            </a:pPr>
            <a:r>
              <a:rPr lang="en-US" sz="2300" dirty="0">
                <a:solidFill>
                  <a:schemeClr val="tx1"/>
                </a:solidFill>
                <a:latin typeface="Times New Roman" panose="02020603050405020304" pitchFamily="18" charset="0"/>
                <a:cs typeface="Times New Roman" panose="02020603050405020304" pitchFamily="18" charset="0"/>
              </a:rPr>
              <a:t>[4] Helen Josephine V &amp; Moorthy, </a:t>
            </a:r>
            <a:r>
              <a:rPr lang="en-US" sz="2300" dirty="0" err="1">
                <a:solidFill>
                  <a:schemeClr val="tx1"/>
                </a:solidFill>
                <a:latin typeface="Times New Roman" panose="02020603050405020304" pitchFamily="18" charset="0"/>
                <a:cs typeface="Times New Roman" panose="02020603050405020304" pitchFamily="18" charset="0"/>
              </a:rPr>
              <a:t>Optimising</a:t>
            </a:r>
            <a:r>
              <a:rPr lang="en-US" sz="2300" dirty="0">
                <a:solidFill>
                  <a:schemeClr val="tx1"/>
                </a:solidFill>
                <a:latin typeface="Times New Roman" panose="02020603050405020304" pitchFamily="18" charset="0"/>
                <a:cs typeface="Times New Roman" panose="02020603050405020304" pitchFamily="18" charset="0"/>
              </a:rPr>
              <a:t> Lead Qualification through Machine Learning: A Customer Data-Driven Approach, Advances in Management, Volume 10, Issue 3, Pages 255–270, 2024.</a:t>
            </a:r>
          </a:p>
          <a:p>
            <a:pPr marL="0" indent="0" algn="just">
              <a:buNone/>
            </a:pPr>
            <a:r>
              <a:rPr lang="en-IN" sz="2300" dirty="0">
                <a:solidFill>
                  <a:schemeClr val="tx1"/>
                </a:solidFill>
                <a:latin typeface="Times New Roman" panose="02020603050405020304" pitchFamily="18" charset="0"/>
                <a:cs typeface="Times New Roman" panose="02020603050405020304" pitchFamily="18" charset="0"/>
              </a:rPr>
              <a:t>[5] Darius </a:t>
            </a:r>
            <a:r>
              <a:rPr lang="en-IN" sz="2300" dirty="0" err="1">
                <a:solidFill>
                  <a:schemeClr val="tx1"/>
                </a:solidFill>
                <a:latin typeface="Times New Roman" panose="02020603050405020304" pitchFamily="18" charset="0"/>
                <a:cs typeface="Times New Roman" panose="02020603050405020304" pitchFamily="18" charset="0"/>
              </a:rPr>
              <a:t>Zumstein</a:t>
            </a:r>
            <a:r>
              <a:rPr lang="en-IN" sz="2300" dirty="0">
                <a:solidFill>
                  <a:schemeClr val="tx1"/>
                </a:solidFill>
                <a:latin typeface="Times New Roman" panose="02020603050405020304" pitchFamily="18" charset="0"/>
                <a:cs typeface="Times New Roman" panose="02020603050405020304" pitchFamily="18" charset="0"/>
              </a:rPr>
              <a:t>, Marketing Automation &amp; AI Report 2024: Tactics &amp; Tools of AI-Based Lead Generation, ZHAW School of Management and Law, 2024.</a:t>
            </a:r>
          </a:p>
          <a:p>
            <a:pPr algn="just"/>
            <a:endParaRPr lang="en-IN" dirty="0"/>
          </a:p>
        </p:txBody>
      </p:sp>
    </p:spTree>
    <p:extLst>
      <p:ext uri="{BB962C8B-B14F-4D97-AF65-F5344CB8AC3E}">
        <p14:creationId xmlns:p14="http://schemas.microsoft.com/office/powerpoint/2010/main" val="1773677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E63B8-E868-3DED-3315-F4D2BE98F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67BE7-16AE-2E36-7031-0C5F05EB7BE7}"/>
              </a:ext>
            </a:extLst>
          </p:cNvPr>
          <p:cNvSpPr>
            <a:spLocks noGrp="1"/>
          </p:cNvSpPr>
          <p:nvPr>
            <p:ph type="title"/>
          </p:nvPr>
        </p:nvSpPr>
        <p:spPr>
          <a:xfrm>
            <a:off x="1439334" y="221673"/>
            <a:ext cx="8596668" cy="782374"/>
          </a:xfrm>
        </p:spPr>
        <p:txBody>
          <a:bodyPr>
            <a:normAutofit/>
          </a:bodyPr>
          <a:lstStyle/>
          <a:p>
            <a:pPr algn="ctr"/>
            <a:r>
              <a:rPr lang="en-IN" altLang="en-US" sz="44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References</a:t>
            </a:r>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84E58D9-80E0-7DDB-4D5F-B6547F569ABF}"/>
              </a:ext>
            </a:extLst>
          </p:cNvPr>
          <p:cNvSpPr>
            <a:spLocks noGrp="1"/>
          </p:cNvSpPr>
          <p:nvPr>
            <p:ph idx="1"/>
          </p:nvPr>
        </p:nvSpPr>
        <p:spPr>
          <a:xfrm>
            <a:off x="677333" y="1228165"/>
            <a:ext cx="10259607" cy="5235388"/>
          </a:xfrm>
        </p:spPr>
        <p:txBody>
          <a:bodyPr>
            <a:normAutofit lnSpcReduction="10000"/>
          </a:bodyPr>
          <a:lstStyle/>
          <a:p>
            <a:pPr marL="0" indent="0" algn="just">
              <a:buNone/>
            </a:pPr>
            <a:r>
              <a:rPr lang="en-IN" sz="2300" dirty="0">
                <a:solidFill>
                  <a:schemeClr val="tx1"/>
                </a:solidFill>
                <a:latin typeface="Times New Roman" panose="02020603050405020304" pitchFamily="18" charset="0"/>
                <a:cs typeface="Times New Roman" panose="02020603050405020304" pitchFamily="18" charset="0"/>
              </a:rPr>
              <a:t>[6] Salesforce, Agent-Powered Analytics Deliver Data and Insights in the Flow of Work, Salesforce News, 2024.</a:t>
            </a:r>
          </a:p>
          <a:p>
            <a:pPr marL="0" indent="0" algn="just">
              <a:buNone/>
            </a:pPr>
            <a:r>
              <a:rPr lang="en-IN" sz="2300" dirty="0">
                <a:solidFill>
                  <a:schemeClr val="tx1"/>
                </a:solidFill>
                <a:latin typeface="Times New Roman" panose="02020603050405020304" pitchFamily="18" charset="0"/>
                <a:cs typeface="Times New Roman" panose="02020603050405020304" pitchFamily="18" charset="0"/>
              </a:rPr>
              <a:t>[7] Navdeep Singh &amp; Daisy Adhikari, AI-Driven Social Media Analytics for eCommerce Advertising, International Research Journal of Engineering and Technology, Volume 10, Issue 12, Pages 509–515, 2023.</a:t>
            </a:r>
          </a:p>
          <a:p>
            <a:pPr marL="0" indent="0" algn="just">
              <a:buNone/>
            </a:pPr>
            <a:r>
              <a:rPr lang="en-IN" sz="2300" dirty="0">
                <a:solidFill>
                  <a:schemeClr val="tx1"/>
                </a:solidFill>
                <a:latin typeface="Times New Roman" panose="02020603050405020304" pitchFamily="18" charset="0"/>
                <a:cs typeface="Times New Roman" panose="02020603050405020304" pitchFamily="18" charset="0"/>
              </a:rPr>
              <a:t>[8] Marketing Automation &amp; AI Report 2024: Tactics &amp; Tools of AI-Based Lead Generation, ZHAW School of Management and Law, 2023.</a:t>
            </a:r>
          </a:p>
          <a:p>
            <a:pPr marL="0" indent="0" algn="just">
              <a:buNone/>
            </a:pPr>
            <a:r>
              <a:rPr lang="en-IN" sz="2300" dirty="0">
                <a:solidFill>
                  <a:schemeClr val="tx1"/>
                </a:solidFill>
                <a:latin typeface="Times New Roman" panose="02020603050405020304" pitchFamily="18" charset="0"/>
                <a:cs typeface="Times New Roman" panose="02020603050405020304" pitchFamily="18" charset="0"/>
              </a:rPr>
              <a:t>[9] André Barbosa &amp; Alan Godoy, Augmenting Customer Support with an NLP-based Receptionist, </a:t>
            </a:r>
            <a:r>
              <a:rPr lang="en-IN" sz="2300" dirty="0" err="1">
                <a:solidFill>
                  <a:schemeClr val="tx1"/>
                </a:solidFill>
                <a:latin typeface="Times New Roman" panose="02020603050405020304" pitchFamily="18" charset="0"/>
                <a:cs typeface="Times New Roman" panose="02020603050405020304" pitchFamily="18" charset="0"/>
              </a:rPr>
              <a:t>arXiv</a:t>
            </a:r>
            <a:r>
              <a:rPr lang="en-IN" sz="2300" dirty="0">
                <a:solidFill>
                  <a:schemeClr val="tx1"/>
                </a:solidFill>
                <a:latin typeface="Times New Roman" panose="02020603050405020304" pitchFamily="18" charset="0"/>
                <a:cs typeface="Times New Roman" panose="02020603050405020304" pitchFamily="18" charset="0"/>
              </a:rPr>
              <a:t> preprint </a:t>
            </a:r>
            <a:r>
              <a:rPr lang="en-IN" sz="2300" dirty="0" err="1">
                <a:solidFill>
                  <a:schemeClr val="tx1"/>
                </a:solidFill>
                <a:latin typeface="Times New Roman" panose="02020603050405020304" pitchFamily="18" charset="0"/>
                <a:cs typeface="Times New Roman" panose="02020603050405020304" pitchFamily="18" charset="0"/>
              </a:rPr>
              <a:t>arXiv</a:t>
            </a:r>
            <a:r>
              <a:rPr lang="en-IN" sz="2300" dirty="0">
                <a:solidFill>
                  <a:schemeClr val="tx1"/>
                </a:solidFill>
                <a:latin typeface="Times New Roman" panose="02020603050405020304" pitchFamily="18" charset="0"/>
                <a:cs typeface="Times New Roman" panose="02020603050405020304" pitchFamily="18" charset="0"/>
              </a:rPr>
              <a:t>: 211201959, 2021.</a:t>
            </a:r>
          </a:p>
          <a:p>
            <a:pPr marL="0" indent="0" algn="just">
              <a:buNone/>
            </a:pPr>
            <a:r>
              <a:rPr lang="en-IN" sz="2300" dirty="0">
                <a:solidFill>
                  <a:schemeClr val="tx1"/>
                </a:solidFill>
                <a:latin typeface="Times New Roman" panose="02020603050405020304" pitchFamily="18" charset="0"/>
                <a:cs typeface="Times New Roman" panose="02020603050405020304" pitchFamily="18" charset="0"/>
              </a:rPr>
              <a:t>[10] Anh D. Tran, Jason </a:t>
            </a:r>
            <a:r>
              <a:rPr lang="en-IN" sz="2300" dirty="0" err="1">
                <a:solidFill>
                  <a:schemeClr val="tx1"/>
                </a:solidFill>
                <a:latin typeface="Times New Roman" panose="02020603050405020304" pitchFamily="18" charset="0"/>
                <a:cs typeface="Times New Roman" panose="02020603050405020304" pitchFamily="18" charset="0"/>
              </a:rPr>
              <a:t>Pallant</a:t>
            </a:r>
            <a:r>
              <a:rPr lang="en-IN" sz="2300" dirty="0">
                <a:solidFill>
                  <a:schemeClr val="tx1"/>
                </a:solidFill>
                <a:latin typeface="Times New Roman" panose="02020603050405020304" pitchFamily="18" charset="0"/>
                <a:cs typeface="Times New Roman" panose="02020603050405020304" pitchFamily="18" charset="0"/>
              </a:rPr>
              <a:t> &amp; Lester W. Johnson, Exploring the Impact of Chatbots on Consumer Sentiment and Expectations in Retail, Journal of Retailing and Consumer Services, Volume 63, Article 102284, 2021.</a:t>
            </a:r>
          </a:p>
          <a:p>
            <a:pPr marL="0" indent="0" algn="just">
              <a:buNone/>
            </a:pPr>
            <a:r>
              <a:rPr lang="en-US" sz="2300" dirty="0">
                <a:solidFill>
                  <a:schemeClr val="tx1"/>
                </a:solidFill>
                <a:latin typeface="Times New Roman" panose="02020603050405020304" pitchFamily="18" charset="0"/>
                <a:cs typeface="Times New Roman" panose="02020603050405020304" pitchFamily="18" charset="0"/>
              </a:rPr>
              <a:t>[11] Brown et al., Language Models are Few-Shot Learners (GPT-3), </a:t>
            </a:r>
            <a:r>
              <a:rPr lang="en-US" sz="2300" dirty="0" err="1">
                <a:solidFill>
                  <a:schemeClr val="tx1"/>
                </a:solidFill>
                <a:latin typeface="Times New Roman" panose="02020603050405020304" pitchFamily="18" charset="0"/>
                <a:cs typeface="Times New Roman" panose="02020603050405020304" pitchFamily="18" charset="0"/>
              </a:rPr>
              <a:t>arXiv</a:t>
            </a:r>
            <a:r>
              <a:rPr lang="en-US" sz="2300" dirty="0">
                <a:solidFill>
                  <a:schemeClr val="tx1"/>
                </a:solidFill>
                <a:latin typeface="Times New Roman" panose="02020603050405020304" pitchFamily="18" charset="0"/>
                <a:cs typeface="Times New Roman" panose="02020603050405020304" pitchFamily="18" charset="0"/>
              </a:rPr>
              <a:t> preprint arXiv:2005.14165,2020.</a:t>
            </a:r>
            <a:endParaRPr lang="en-IN" sz="23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310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59661"/>
          </a:xfrm>
        </p:spPr>
        <p:txBody>
          <a:bodyPr>
            <a:normAutofit/>
          </a:bodyPr>
          <a:lstStyle/>
          <a:p>
            <a:pPr algn="ctr"/>
            <a:r>
              <a:rPr lang="en-US" sz="9600" dirty="0"/>
              <a:t>                       </a:t>
            </a:r>
            <a:r>
              <a:rPr lang="en-US" sz="7200" dirty="0">
                <a:solidFill>
                  <a:schemeClr val="tx1"/>
                </a:solidFill>
                <a:latin typeface="Times New Roman" panose="02020603050405020304" pitchFamily="18" charset="0"/>
                <a:cs typeface="Times New Roman" panose="02020603050405020304" pitchFamily="18" charset="0"/>
              </a:rPr>
              <a:t>THANK YOU!</a:t>
            </a:r>
            <a:endParaRPr lang="en-US" sz="6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72219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Geometric annual presentation</Template>
  <TotalTime>45124</TotalTime>
  <Words>1802</Words>
  <Application>Microsoft Office PowerPoint</Application>
  <PresentationFormat>Widescreen</PresentationFormat>
  <Paragraphs>192</Paragraphs>
  <Slides>27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Courier New</vt:lpstr>
      <vt:lpstr>Times New Roman</vt:lpstr>
      <vt:lpstr>Trebuchet MS</vt:lpstr>
      <vt:lpstr>Wingdings</vt:lpstr>
      <vt:lpstr>Wingdings 3</vt:lpstr>
      <vt:lpstr>Facet</vt:lpstr>
      <vt:lpstr>AI Powered Lead Generation &amp; Sales Automation Platform</vt:lpstr>
      <vt:lpstr>Department of Computer Science &amp; Engineering (Artificial Intelligence &amp; Machine Learning) </vt:lpstr>
      <vt:lpstr>Computer Science &amp; Engineering Artificial Intelligence and Machine Learning By Durvesh Kanade (22106013) Aaryaman Kattali (22106077) Vaishnavi Dumbre (22106115)   Ritik Pandey (22106054)    Under the Guidance of Prof. Viki Patil</vt:lpstr>
      <vt:lpstr>PowerPoint Presentation</vt:lpstr>
      <vt:lpstr>Introduction</vt:lpstr>
      <vt:lpstr>Literature Survey of Existing System</vt:lpstr>
      <vt:lpstr>Literature Survey of Existing System</vt:lpstr>
      <vt:lpstr>Literature Survey of Existing System</vt:lpstr>
      <vt:lpstr>Limitations of Existing System</vt:lpstr>
      <vt:lpstr>Problem Statement</vt:lpstr>
      <vt:lpstr>System Design</vt:lpstr>
      <vt:lpstr>System Design</vt:lpstr>
      <vt:lpstr>System Design</vt:lpstr>
      <vt:lpstr>System Design</vt:lpstr>
      <vt:lpstr>Technologies and methodologies </vt:lpstr>
      <vt:lpstr>Technologies and methodologies </vt:lpstr>
      <vt:lpstr>Technologies and methodologies </vt:lpstr>
      <vt:lpstr>Technologies and methodologies </vt:lpstr>
      <vt:lpstr>Implementation</vt:lpstr>
      <vt:lpstr>Implementation</vt:lpstr>
      <vt:lpstr>Implementation</vt:lpstr>
      <vt:lpstr>Implementation</vt:lpstr>
      <vt:lpstr>Implementation</vt:lpstr>
      <vt:lpstr>Outcome </vt:lpstr>
      <vt:lpstr>References</vt:lpstr>
      <vt:lpstr>References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 TRACKER</dc:title>
  <dc:creator>Dell</dc:creator>
  <cp:lastModifiedBy>Aaryaman Kattali</cp:lastModifiedBy>
  <cp:revision>91</cp:revision>
  <dcterms:created xsi:type="dcterms:W3CDTF">2024-01-29T19:16:04Z</dcterms:created>
  <dcterms:modified xsi:type="dcterms:W3CDTF">2026-04-23T19:32:16Z</dcterms:modified>
</cp:coreProperties>
</file>